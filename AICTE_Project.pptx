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78" r:id="rId12"/>
    <p:sldId id="281" r:id="rId13"/>
    <p:sldId id="272" r:id="rId14"/>
    <p:sldId id="273" r:id="rId15"/>
    <p:sldId id="274" r:id="rId16"/>
    <p:sldId id="275" r:id="rId17"/>
    <p:sldId id="277" r:id="rId18"/>
    <p:sldId id="276" r:id="rId19"/>
    <p:sldId id="279" r:id="rId20"/>
    <p:sldId id="280" r:id="rId21"/>
    <p:sldId id="282" r:id="rId22"/>
    <p:sldId id="284" r:id="rId23"/>
    <p:sldId id="283" r:id="rId24"/>
    <p:sldId id="285" r:id="rId25"/>
    <p:sldId id="266" r:id="rId26"/>
    <p:sldId id="267" r:id="rId27"/>
    <p:sldId id="268" r:id="rId28"/>
    <p:sldId id="269" r:id="rId29"/>
    <p:sldId id="270" r:id="rId30"/>
    <p:sldId id="271" r:id="rId3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288DC38E-AAC4-C9CD-6FF4-61B68391C8B7}"/>
            </a:ext>
          </a:extLst>
        </p:cNvPr>
        <p:cNvGrpSpPr/>
        <p:nvPr/>
      </p:nvGrpSpPr>
      <p:grpSpPr>
        <a:xfrm>
          <a:off x="0" y="0"/>
          <a:ext cx="0" cy="0"/>
          <a:chOff x="0" y="0"/>
          <a:chExt cx="0" cy="0"/>
        </a:xfrm>
      </p:grpSpPr>
      <p:sp>
        <p:nvSpPr>
          <p:cNvPr id="141" name="Google Shape;141;p39:notes">
            <a:extLst>
              <a:ext uri="{FF2B5EF4-FFF2-40B4-BE49-F238E27FC236}">
                <a16:creationId xmlns:a16="http://schemas.microsoft.com/office/drawing/2014/main" id="{BF904A63-578F-BCAC-7D08-CCB031E9FE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a:extLst>
              <a:ext uri="{FF2B5EF4-FFF2-40B4-BE49-F238E27FC236}">
                <a16:creationId xmlns:a16="http://schemas.microsoft.com/office/drawing/2014/main" id="{5BE4FC6D-F86A-2D60-91CD-73E6E98B7A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339036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82095FB3-2CF6-4A28-9544-B25E3B2A6058}"/>
            </a:ext>
          </a:extLst>
        </p:cNvPr>
        <p:cNvGrpSpPr/>
        <p:nvPr/>
      </p:nvGrpSpPr>
      <p:grpSpPr>
        <a:xfrm>
          <a:off x="0" y="0"/>
          <a:ext cx="0" cy="0"/>
          <a:chOff x="0" y="0"/>
          <a:chExt cx="0" cy="0"/>
        </a:xfrm>
      </p:grpSpPr>
      <p:sp>
        <p:nvSpPr>
          <p:cNvPr id="141" name="Google Shape;141;p39:notes">
            <a:extLst>
              <a:ext uri="{FF2B5EF4-FFF2-40B4-BE49-F238E27FC236}">
                <a16:creationId xmlns:a16="http://schemas.microsoft.com/office/drawing/2014/main" id="{059AE748-59E4-1FFB-1BD4-8A56AC1A571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a:extLst>
              <a:ext uri="{FF2B5EF4-FFF2-40B4-BE49-F238E27FC236}">
                <a16:creationId xmlns:a16="http://schemas.microsoft.com/office/drawing/2014/main" id="{409AE28B-664D-9868-13AE-EB4FF9C335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812740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F565592E-3986-A8D7-31C9-477F6774E1BF}"/>
            </a:ext>
          </a:extLst>
        </p:cNvPr>
        <p:cNvGrpSpPr/>
        <p:nvPr/>
      </p:nvGrpSpPr>
      <p:grpSpPr>
        <a:xfrm>
          <a:off x="0" y="0"/>
          <a:ext cx="0" cy="0"/>
          <a:chOff x="0" y="0"/>
          <a:chExt cx="0" cy="0"/>
        </a:xfrm>
      </p:grpSpPr>
      <p:sp>
        <p:nvSpPr>
          <p:cNvPr id="141" name="Google Shape;141;p39:notes">
            <a:extLst>
              <a:ext uri="{FF2B5EF4-FFF2-40B4-BE49-F238E27FC236}">
                <a16:creationId xmlns:a16="http://schemas.microsoft.com/office/drawing/2014/main" id="{EDA652BD-B033-4E1A-FBA9-A50508C2D53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a:extLst>
              <a:ext uri="{FF2B5EF4-FFF2-40B4-BE49-F238E27FC236}">
                <a16:creationId xmlns:a16="http://schemas.microsoft.com/office/drawing/2014/main" id="{6EF28A15-C583-FB32-9D69-F7FAB13660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38971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4A7D118B-FAD6-B194-8EA1-65458C0918AD}"/>
            </a:ext>
          </a:extLst>
        </p:cNvPr>
        <p:cNvGrpSpPr/>
        <p:nvPr/>
      </p:nvGrpSpPr>
      <p:grpSpPr>
        <a:xfrm>
          <a:off x="0" y="0"/>
          <a:ext cx="0" cy="0"/>
          <a:chOff x="0" y="0"/>
          <a:chExt cx="0" cy="0"/>
        </a:xfrm>
      </p:grpSpPr>
      <p:sp>
        <p:nvSpPr>
          <p:cNvPr id="141" name="Google Shape;141;p39:notes">
            <a:extLst>
              <a:ext uri="{FF2B5EF4-FFF2-40B4-BE49-F238E27FC236}">
                <a16:creationId xmlns:a16="http://schemas.microsoft.com/office/drawing/2014/main" id="{358FBA6A-E5E2-0E81-676C-A85D5266E12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a:extLst>
              <a:ext uri="{FF2B5EF4-FFF2-40B4-BE49-F238E27FC236}">
                <a16:creationId xmlns:a16="http://schemas.microsoft.com/office/drawing/2014/main" id="{3677D9AD-E7A2-CE38-8F4B-805EA5384F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90167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F920B69D-0B6F-B35C-6333-9B4B0E2A6216}"/>
            </a:ext>
          </a:extLst>
        </p:cNvPr>
        <p:cNvGrpSpPr/>
        <p:nvPr/>
      </p:nvGrpSpPr>
      <p:grpSpPr>
        <a:xfrm>
          <a:off x="0" y="0"/>
          <a:ext cx="0" cy="0"/>
          <a:chOff x="0" y="0"/>
          <a:chExt cx="0" cy="0"/>
        </a:xfrm>
      </p:grpSpPr>
      <p:sp>
        <p:nvSpPr>
          <p:cNvPr id="141" name="Google Shape;141;p39:notes">
            <a:extLst>
              <a:ext uri="{FF2B5EF4-FFF2-40B4-BE49-F238E27FC236}">
                <a16:creationId xmlns:a16="http://schemas.microsoft.com/office/drawing/2014/main" id="{B6BDD3B6-D169-CB02-CAB3-9FAC36944C6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a:extLst>
              <a:ext uri="{FF2B5EF4-FFF2-40B4-BE49-F238E27FC236}">
                <a16:creationId xmlns:a16="http://schemas.microsoft.com/office/drawing/2014/main" id="{7CB47164-8BC9-6543-3715-0711F3F718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716410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E6004167-C345-059A-B50F-277928A1F7B4}"/>
            </a:ext>
          </a:extLst>
        </p:cNvPr>
        <p:cNvGrpSpPr/>
        <p:nvPr/>
      </p:nvGrpSpPr>
      <p:grpSpPr>
        <a:xfrm>
          <a:off x="0" y="0"/>
          <a:ext cx="0" cy="0"/>
          <a:chOff x="0" y="0"/>
          <a:chExt cx="0" cy="0"/>
        </a:xfrm>
      </p:grpSpPr>
      <p:sp>
        <p:nvSpPr>
          <p:cNvPr id="141" name="Google Shape;141;p39:notes">
            <a:extLst>
              <a:ext uri="{FF2B5EF4-FFF2-40B4-BE49-F238E27FC236}">
                <a16:creationId xmlns:a16="http://schemas.microsoft.com/office/drawing/2014/main" id="{AFE76FA3-2C27-5919-CE77-F6311BDA119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a:extLst>
              <a:ext uri="{FF2B5EF4-FFF2-40B4-BE49-F238E27FC236}">
                <a16:creationId xmlns:a16="http://schemas.microsoft.com/office/drawing/2014/main" id="{216B3146-C37C-A269-BBA0-32F437B1C2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034200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9A690C3C-667C-DB37-54F0-970675B99B3C}"/>
            </a:ext>
          </a:extLst>
        </p:cNvPr>
        <p:cNvGrpSpPr/>
        <p:nvPr/>
      </p:nvGrpSpPr>
      <p:grpSpPr>
        <a:xfrm>
          <a:off x="0" y="0"/>
          <a:ext cx="0" cy="0"/>
          <a:chOff x="0" y="0"/>
          <a:chExt cx="0" cy="0"/>
        </a:xfrm>
      </p:grpSpPr>
      <p:sp>
        <p:nvSpPr>
          <p:cNvPr id="141" name="Google Shape;141;p39:notes">
            <a:extLst>
              <a:ext uri="{FF2B5EF4-FFF2-40B4-BE49-F238E27FC236}">
                <a16:creationId xmlns:a16="http://schemas.microsoft.com/office/drawing/2014/main" id="{7F389D50-3DB7-8EFB-A2FE-1B116E10FCB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a:extLst>
              <a:ext uri="{FF2B5EF4-FFF2-40B4-BE49-F238E27FC236}">
                <a16:creationId xmlns:a16="http://schemas.microsoft.com/office/drawing/2014/main" id="{875A01EE-14EA-26E2-6AF4-19510BF2B6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43580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B2049420-631C-0F1D-BD08-96AAFF66692D}"/>
            </a:ext>
          </a:extLst>
        </p:cNvPr>
        <p:cNvGrpSpPr/>
        <p:nvPr/>
      </p:nvGrpSpPr>
      <p:grpSpPr>
        <a:xfrm>
          <a:off x="0" y="0"/>
          <a:ext cx="0" cy="0"/>
          <a:chOff x="0" y="0"/>
          <a:chExt cx="0" cy="0"/>
        </a:xfrm>
      </p:grpSpPr>
      <p:sp>
        <p:nvSpPr>
          <p:cNvPr id="141" name="Google Shape;141;p39:notes">
            <a:extLst>
              <a:ext uri="{FF2B5EF4-FFF2-40B4-BE49-F238E27FC236}">
                <a16:creationId xmlns:a16="http://schemas.microsoft.com/office/drawing/2014/main" id="{328E4EF9-3E2D-6FD4-8825-E75DF220975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a:extLst>
              <a:ext uri="{FF2B5EF4-FFF2-40B4-BE49-F238E27FC236}">
                <a16:creationId xmlns:a16="http://schemas.microsoft.com/office/drawing/2014/main" id="{DB2D6222-1531-0B5A-A054-E18A358B2C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189598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12023B0A-C244-C21D-9436-4B6DE05CF1AB}"/>
            </a:ext>
          </a:extLst>
        </p:cNvPr>
        <p:cNvGrpSpPr/>
        <p:nvPr/>
      </p:nvGrpSpPr>
      <p:grpSpPr>
        <a:xfrm>
          <a:off x="0" y="0"/>
          <a:ext cx="0" cy="0"/>
          <a:chOff x="0" y="0"/>
          <a:chExt cx="0" cy="0"/>
        </a:xfrm>
      </p:grpSpPr>
      <p:sp>
        <p:nvSpPr>
          <p:cNvPr id="141" name="Google Shape;141;p39:notes">
            <a:extLst>
              <a:ext uri="{FF2B5EF4-FFF2-40B4-BE49-F238E27FC236}">
                <a16:creationId xmlns:a16="http://schemas.microsoft.com/office/drawing/2014/main" id="{78A4DD7D-BAC1-64B0-E8E8-235C03943B0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a:extLst>
              <a:ext uri="{FF2B5EF4-FFF2-40B4-BE49-F238E27FC236}">
                <a16:creationId xmlns:a16="http://schemas.microsoft.com/office/drawing/2014/main" id="{639507CB-E276-93FF-A915-9775FE73DE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809766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79D61782-440A-591F-8FAB-3472387EC6BC}"/>
            </a:ext>
          </a:extLst>
        </p:cNvPr>
        <p:cNvGrpSpPr/>
        <p:nvPr/>
      </p:nvGrpSpPr>
      <p:grpSpPr>
        <a:xfrm>
          <a:off x="0" y="0"/>
          <a:ext cx="0" cy="0"/>
          <a:chOff x="0" y="0"/>
          <a:chExt cx="0" cy="0"/>
        </a:xfrm>
      </p:grpSpPr>
      <p:sp>
        <p:nvSpPr>
          <p:cNvPr id="141" name="Google Shape;141;p39:notes">
            <a:extLst>
              <a:ext uri="{FF2B5EF4-FFF2-40B4-BE49-F238E27FC236}">
                <a16:creationId xmlns:a16="http://schemas.microsoft.com/office/drawing/2014/main" id="{5C17B5D9-44FD-DF98-0AE7-49AD9289CF1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a:extLst>
              <a:ext uri="{FF2B5EF4-FFF2-40B4-BE49-F238E27FC236}">
                <a16:creationId xmlns:a16="http://schemas.microsoft.com/office/drawing/2014/main" id="{7DD8F54C-68A5-2B5B-AC7B-1BCB700310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284758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AB213D44-FA29-942C-7BC5-7E2575E99975}"/>
            </a:ext>
          </a:extLst>
        </p:cNvPr>
        <p:cNvGrpSpPr/>
        <p:nvPr/>
      </p:nvGrpSpPr>
      <p:grpSpPr>
        <a:xfrm>
          <a:off x="0" y="0"/>
          <a:ext cx="0" cy="0"/>
          <a:chOff x="0" y="0"/>
          <a:chExt cx="0" cy="0"/>
        </a:xfrm>
      </p:grpSpPr>
      <p:sp>
        <p:nvSpPr>
          <p:cNvPr id="141" name="Google Shape;141;p39:notes">
            <a:extLst>
              <a:ext uri="{FF2B5EF4-FFF2-40B4-BE49-F238E27FC236}">
                <a16:creationId xmlns:a16="http://schemas.microsoft.com/office/drawing/2014/main" id="{2E93289A-3A49-CFF9-B930-0286A2905F3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a:extLst>
              <a:ext uri="{FF2B5EF4-FFF2-40B4-BE49-F238E27FC236}">
                <a16:creationId xmlns:a16="http://schemas.microsoft.com/office/drawing/2014/main" id="{D096DE56-959C-D62D-E7B8-B2A8B380E0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82078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0CF24A85-2065-1015-9824-B03A6003501A}"/>
            </a:ext>
          </a:extLst>
        </p:cNvPr>
        <p:cNvGrpSpPr/>
        <p:nvPr/>
      </p:nvGrpSpPr>
      <p:grpSpPr>
        <a:xfrm>
          <a:off x="0" y="0"/>
          <a:ext cx="0" cy="0"/>
          <a:chOff x="0" y="0"/>
          <a:chExt cx="0" cy="0"/>
        </a:xfrm>
      </p:grpSpPr>
      <p:sp>
        <p:nvSpPr>
          <p:cNvPr id="141" name="Google Shape;141;p39:notes">
            <a:extLst>
              <a:ext uri="{FF2B5EF4-FFF2-40B4-BE49-F238E27FC236}">
                <a16:creationId xmlns:a16="http://schemas.microsoft.com/office/drawing/2014/main" id="{0FDB5F15-B505-81E2-3ED8-FFA448AC653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a:extLst>
              <a:ext uri="{FF2B5EF4-FFF2-40B4-BE49-F238E27FC236}">
                <a16:creationId xmlns:a16="http://schemas.microsoft.com/office/drawing/2014/main" id="{F0ABA9E6-FCF5-17BA-A8E5-D8D4FDBF50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776895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9E56EBF2-6A9E-553B-6BB4-14032EAA57FE}"/>
            </a:ext>
          </a:extLst>
        </p:cNvPr>
        <p:cNvGrpSpPr/>
        <p:nvPr/>
      </p:nvGrpSpPr>
      <p:grpSpPr>
        <a:xfrm>
          <a:off x="0" y="0"/>
          <a:ext cx="0" cy="0"/>
          <a:chOff x="0" y="0"/>
          <a:chExt cx="0" cy="0"/>
        </a:xfrm>
      </p:grpSpPr>
      <p:sp>
        <p:nvSpPr>
          <p:cNvPr id="141" name="Google Shape;141;p39:notes">
            <a:extLst>
              <a:ext uri="{FF2B5EF4-FFF2-40B4-BE49-F238E27FC236}">
                <a16:creationId xmlns:a16="http://schemas.microsoft.com/office/drawing/2014/main" id="{C711E644-2E2B-0DBD-AC00-9DAA53775E1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a:extLst>
              <a:ext uri="{FF2B5EF4-FFF2-40B4-BE49-F238E27FC236}">
                <a16:creationId xmlns:a16="http://schemas.microsoft.com/office/drawing/2014/main" id="{C9001779-5D5A-8868-1356-E642E0A73D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733929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5DDB1175-4CFA-D95A-9025-0289BA6A139A}"/>
            </a:ext>
          </a:extLst>
        </p:cNvPr>
        <p:cNvGrpSpPr/>
        <p:nvPr/>
      </p:nvGrpSpPr>
      <p:grpSpPr>
        <a:xfrm>
          <a:off x="0" y="0"/>
          <a:ext cx="0" cy="0"/>
          <a:chOff x="0" y="0"/>
          <a:chExt cx="0" cy="0"/>
        </a:xfrm>
      </p:grpSpPr>
      <p:sp>
        <p:nvSpPr>
          <p:cNvPr id="141" name="Google Shape;141;p39:notes">
            <a:extLst>
              <a:ext uri="{FF2B5EF4-FFF2-40B4-BE49-F238E27FC236}">
                <a16:creationId xmlns:a16="http://schemas.microsoft.com/office/drawing/2014/main" id="{D1058B9D-4421-2F2C-ADDB-CF14B97B8F9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a:extLst>
              <a:ext uri="{FF2B5EF4-FFF2-40B4-BE49-F238E27FC236}">
                <a16:creationId xmlns:a16="http://schemas.microsoft.com/office/drawing/2014/main" id="{47FB64ED-C759-8A7D-22CD-9DA6EAA7C8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133344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github.com/aarna2005/course-simplifier.git"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1529953212"/>
              </p:ext>
            </p:extLst>
          </p:nvPr>
        </p:nvGraphicFramePr>
        <p:xfrm>
          <a:off x="1299257" y="2600315"/>
          <a:ext cx="9395000" cy="2167125"/>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GB" sz="2000" u="none" strike="noStrike" cap="none" dirty="0"/>
                        <a:t>Aarna Neemkar</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GB" sz="2000" u="none" strike="noStrike" cap="none" dirty="0"/>
                        <a:t>aarna9.neemkar@gmail.com</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GB" sz="2000" u="none" strike="noStrike" cap="none" dirty="0"/>
                        <a:t>7989193820</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lvl="0"/>
            <a:r>
              <a:rPr lang="en-US" sz="2400" b="1" i="0" u="none" strike="noStrike" cap="none" dirty="0">
                <a:solidFill>
                  <a:srgbClr val="000000"/>
                </a:solidFill>
                <a:latin typeface="Arial"/>
                <a:ea typeface="Arial"/>
                <a:cs typeface="Arial"/>
                <a:sym typeface="Arial"/>
              </a:rPr>
              <a:t>Domain of  Project – </a:t>
            </a:r>
            <a:r>
              <a:rPr lang="en-IN" sz="2400" dirty="0">
                <a:highlight>
                  <a:srgbClr val="FFFF00"/>
                </a:highlight>
              </a:rPr>
              <a:t>Education</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10280254" cy="461624"/>
          </a:xfrm>
          <a:prstGeom prst="rect">
            <a:avLst/>
          </a:prstGeom>
          <a:noFill/>
          <a:ln>
            <a:noFill/>
          </a:ln>
        </p:spPr>
        <p:txBody>
          <a:bodyPr spcFirstLastPara="1" wrap="square" lIns="91425" tIns="45700" rIns="91425" bIns="45700" anchor="t" anchorCtr="0">
            <a:spAutoFit/>
          </a:bodyPr>
          <a:lstStyle/>
          <a:p>
            <a:r>
              <a:rPr lang="en-US" sz="2400" b="1" i="0" u="none" strike="noStrike" cap="none" dirty="0">
                <a:solidFill>
                  <a:srgbClr val="000000"/>
                </a:solidFill>
                <a:latin typeface="Arial"/>
                <a:ea typeface="Arial"/>
                <a:cs typeface="Arial"/>
                <a:sym typeface="Arial"/>
              </a:rPr>
              <a:t>Project Tile – </a:t>
            </a:r>
            <a:r>
              <a:rPr lang="en-IN" sz="2400" b="1" dirty="0">
                <a:highlight>
                  <a:srgbClr val="FFFF00"/>
                </a:highlight>
              </a:rPr>
              <a:t>Course Content Simplification Agent</a:t>
            </a:r>
            <a:endParaRPr sz="2400" b="1" i="0" u="none" strike="noStrike" cap="none" dirty="0">
              <a:solidFill>
                <a:srgbClr val="000000"/>
              </a:solidFill>
              <a:highlight>
                <a:srgbClr val="FFFF00"/>
              </a:highlight>
              <a:latin typeface="Arial"/>
              <a:ea typeface="Arial"/>
              <a:cs typeface="Arial"/>
              <a:sym typeface="Arial"/>
            </a:endParaRPr>
          </a:p>
        </p:txBody>
      </p:sp>
      <p:sp>
        <p:nvSpPr>
          <p:cNvPr id="90" name="Google Shape;90;p2"/>
          <p:cNvSpPr txBox="1"/>
          <p:nvPr/>
        </p:nvSpPr>
        <p:spPr>
          <a:xfrm>
            <a:off x="1211005" y="5210667"/>
            <a:ext cx="6456743" cy="16312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rgbClr val="FF0000"/>
                </a:solidFill>
                <a:latin typeface="Arial"/>
                <a:ea typeface="Arial"/>
                <a:cs typeface="Arial"/>
                <a:sym typeface="Arial"/>
              </a:rPr>
              <a:t>Recommended font style and size:</a:t>
            </a:r>
            <a:br>
              <a:rPr lang="en-US" sz="2000" b="0" i="0" u="none" strike="noStrike" cap="none">
                <a:solidFill>
                  <a:srgbClr val="FF0000"/>
                </a:solidFill>
                <a:latin typeface="Arial"/>
                <a:ea typeface="Arial"/>
                <a:cs typeface="Arial"/>
                <a:sym typeface="Arial"/>
              </a:rPr>
            </a:br>
            <a:br>
              <a:rPr lang="en-US" sz="2000" b="0" i="0" u="none" strike="noStrike" cap="none">
                <a:solidFill>
                  <a:srgbClr val="000000"/>
                </a:solidFill>
                <a:latin typeface="Arial"/>
                <a:ea typeface="Arial"/>
                <a:cs typeface="Arial"/>
                <a:sym typeface="Arial"/>
              </a:rPr>
            </a:br>
            <a:r>
              <a:rPr lang="en-US" sz="2000" b="0" i="0" u="none" strike="noStrike" cap="none">
                <a:solidFill>
                  <a:srgbClr val="FF0000"/>
                </a:solidFill>
                <a:latin typeface="Arial"/>
                <a:ea typeface="Arial"/>
                <a:cs typeface="Arial"/>
                <a:sym typeface="Arial"/>
              </a:rPr>
              <a:t>Font Style: Arial</a:t>
            </a:r>
            <a:br>
              <a:rPr lang="en-US" sz="2000" b="0" i="0" u="none" strike="noStrike" cap="none">
                <a:solidFill>
                  <a:srgbClr val="FF0000"/>
                </a:solidFill>
                <a:latin typeface="Arial"/>
                <a:ea typeface="Arial"/>
                <a:cs typeface="Arial"/>
                <a:sym typeface="Arial"/>
              </a:rPr>
            </a:br>
            <a:r>
              <a:rPr lang="en-US" sz="2000" b="0" i="0" u="none" strike="noStrike" cap="none">
                <a:solidFill>
                  <a:srgbClr val="FF0000"/>
                </a:solidFill>
                <a:latin typeface="Arial"/>
                <a:ea typeface="Arial"/>
                <a:cs typeface="Arial"/>
                <a:sym typeface="Arial"/>
              </a:rPr>
              <a:t>Font Size (Heading): 28</a:t>
            </a:r>
            <a:endParaRPr/>
          </a:p>
          <a:p>
            <a:pPr marL="0" marR="0" lvl="0" indent="0" algn="l" rtl="0">
              <a:lnSpc>
                <a:spcPct val="100000"/>
              </a:lnSpc>
              <a:spcBef>
                <a:spcPts val="0"/>
              </a:spcBef>
              <a:spcAft>
                <a:spcPts val="0"/>
              </a:spcAft>
              <a:buNone/>
            </a:pPr>
            <a:r>
              <a:rPr lang="en-US" sz="2000" b="0" i="0" u="none" strike="noStrike" cap="none">
                <a:solidFill>
                  <a:srgbClr val="FF0000"/>
                </a:solidFill>
                <a:latin typeface="Arial"/>
                <a:ea typeface="Arial"/>
                <a:cs typeface="Arial"/>
                <a:sym typeface="Arial"/>
              </a:rPr>
              <a:t>Font Size (Content): 20</a:t>
            </a:r>
            <a:endParaRPr/>
          </a:p>
        </p:txBody>
      </p:sp>
      <p:pic>
        <p:nvPicPr>
          <p:cNvPr id="3" name="Picture 2">
            <a:extLst>
              <a:ext uri="{FF2B5EF4-FFF2-40B4-BE49-F238E27FC236}">
                <a16:creationId xmlns:a16="http://schemas.microsoft.com/office/drawing/2014/main" id="{037CADCB-FBAF-9719-54E3-1702C3C25BAD}"/>
              </a:ext>
            </a:extLst>
          </p:cNvPr>
          <p:cNvPicPr>
            <a:picLocks noChangeAspect="1"/>
          </p:cNvPicPr>
          <p:nvPr/>
        </p:nvPicPr>
        <p:blipFill>
          <a:blip r:embed="rId3"/>
          <a:stretch>
            <a:fillRect/>
          </a:stretch>
        </p:blipFill>
        <p:spPr>
          <a:xfrm>
            <a:off x="4129174" y="3581780"/>
            <a:ext cx="843518" cy="108514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706567" y="1346955"/>
            <a:ext cx="10778865" cy="535527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Arial"/>
                <a:ea typeface="Arial"/>
                <a:cs typeface="Arial"/>
                <a:sym typeface="Arial"/>
              </a:rPr>
              <a:t>Problem Statement : Nutrition Agent</a:t>
            </a:r>
            <a:r>
              <a:rPr lang="en-US" sz="1800" b="0" i="0" u="none" strike="noStrike" cap="none" dirty="0">
                <a:solidFill>
                  <a:srgbClr val="000000"/>
                </a:solidFill>
                <a:latin typeface="Arial"/>
                <a:ea typeface="Arial"/>
                <a:cs typeface="Arial"/>
                <a:sym typeface="Arial"/>
              </a:rPr>
              <a:t> </a:t>
            </a:r>
            <a:endParaRPr sz="1800" dirty="0"/>
          </a:p>
          <a:p>
            <a:pPr marL="0" marR="0" lvl="0" indent="0" algn="l" rtl="0">
              <a:lnSpc>
                <a:spcPct val="100000"/>
              </a:lnSpc>
              <a:spcBef>
                <a:spcPts val="0"/>
              </a:spcBef>
              <a:spcAft>
                <a:spcPts val="0"/>
              </a:spcAft>
              <a:buNone/>
            </a:pPr>
            <a:endParaRPr sz="18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800" b="1" i="0" u="none" strike="noStrike" cap="none" dirty="0">
                <a:solidFill>
                  <a:srgbClr val="000000"/>
                </a:solidFill>
                <a:latin typeface="Arial"/>
                <a:ea typeface="Arial"/>
                <a:cs typeface="Arial"/>
                <a:sym typeface="Arial"/>
              </a:rPr>
              <a:t>The Challenge</a:t>
            </a:r>
            <a:r>
              <a:rPr lang="en-US" sz="1800" b="0" i="0" u="none" strike="noStrike" cap="none" dirty="0">
                <a:solidFill>
                  <a:srgbClr val="000000"/>
                </a:solidFill>
                <a:latin typeface="Arial"/>
                <a:ea typeface="Arial"/>
                <a:cs typeface="Arial"/>
                <a:sym typeface="Arial"/>
              </a:rPr>
              <a:t> </a:t>
            </a:r>
            <a:endParaRPr sz="1800" dirty="0"/>
          </a:p>
          <a:p>
            <a:pPr lvl="0"/>
            <a:r>
              <a:rPr lang="en-GB" sz="1800" dirty="0"/>
              <a:t>Educational content such as textbooks, lecture notes, and study materials often contains complex language and technical jargon. Students with different learning abilities and knowledge levels find it difficult to understand these materials. Existing educational resources rarely adapt explanations according to an individual learner's proficiency.</a:t>
            </a:r>
            <a:r>
              <a:rPr lang="en-US" sz="1800" b="0" i="0" u="none" strike="noStrike" cap="none" dirty="0">
                <a:solidFill>
                  <a:srgbClr val="000000"/>
                </a:solidFill>
                <a:latin typeface="Arial"/>
                <a:ea typeface="Arial"/>
                <a:cs typeface="Arial"/>
                <a:sym typeface="Arial"/>
              </a:rPr>
              <a:t>. </a:t>
            </a:r>
            <a:endParaRPr sz="1800" dirty="0"/>
          </a:p>
          <a:p>
            <a:pPr marL="0" marR="0" lvl="0" indent="0" algn="l" rtl="0">
              <a:lnSpc>
                <a:spcPct val="100000"/>
              </a:lnSpc>
              <a:spcBef>
                <a:spcPts val="0"/>
              </a:spcBef>
              <a:spcAft>
                <a:spcPts val="0"/>
              </a:spcAft>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800" b="1" i="0" u="none" strike="noStrike" cap="none" dirty="0">
                <a:solidFill>
                  <a:srgbClr val="000000"/>
                </a:solidFill>
                <a:latin typeface="Arial"/>
                <a:ea typeface="Arial"/>
                <a:cs typeface="Arial"/>
                <a:sym typeface="Arial"/>
              </a:rPr>
              <a:t>The Objective</a:t>
            </a:r>
            <a:r>
              <a:rPr lang="en-US" sz="1800" b="0" i="0" u="none" strike="noStrike" cap="none" dirty="0">
                <a:solidFill>
                  <a:srgbClr val="000000"/>
                </a:solidFill>
                <a:latin typeface="Arial"/>
                <a:ea typeface="Arial"/>
                <a:cs typeface="Arial"/>
                <a:sym typeface="Arial"/>
              </a:rPr>
              <a:t> </a:t>
            </a:r>
            <a:endParaRPr sz="1800" dirty="0"/>
          </a:p>
          <a:p>
            <a:r>
              <a:rPr lang="en-GB" sz="1800" dirty="0"/>
              <a:t>Develop an AI-powered Course Content Simplification Agent that:</a:t>
            </a:r>
          </a:p>
          <a:p>
            <a:pPr marL="285750" indent="-285750">
              <a:buFont typeface="Arial" panose="020B0604020202020204" pitchFamily="34" charset="0"/>
              <a:buChar char="•"/>
            </a:pPr>
            <a:r>
              <a:rPr lang="en-GB" sz="1800" dirty="0"/>
              <a:t>Simplifies educational content based on learner level. </a:t>
            </a:r>
          </a:p>
          <a:p>
            <a:pPr marL="285750" indent="-285750">
              <a:buFont typeface="Arial" panose="020B0604020202020204" pitchFamily="34" charset="0"/>
              <a:buChar char="•"/>
            </a:pPr>
            <a:r>
              <a:rPr lang="en-GB" sz="1800" dirty="0"/>
              <a:t>Converts complex explanations into easy-to-understand language. </a:t>
            </a:r>
          </a:p>
          <a:p>
            <a:pPr marL="285750" indent="-285750">
              <a:buFont typeface="Arial" panose="020B0604020202020204" pitchFamily="34" charset="0"/>
              <a:buChar char="•"/>
            </a:pPr>
            <a:r>
              <a:rPr lang="en-GB" sz="1800" dirty="0"/>
              <a:t>Generates concise summaries. </a:t>
            </a:r>
          </a:p>
          <a:p>
            <a:pPr marL="285750" indent="-285750">
              <a:buFont typeface="Arial" panose="020B0604020202020204" pitchFamily="34" charset="0"/>
              <a:buChar char="•"/>
            </a:pPr>
            <a:r>
              <a:rPr lang="en-GB" sz="1800" dirty="0"/>
              <a:t>Highlights important concepts. </a:t>
            </a:r>
          </a:p>
          <a:p>
            <a:pPr marL="285750" indent="-285750">
              <a:buFont typeface="Arial" panose="020B0604020202020204" pitchFamily="34" charset="0"/>
              <a:buChar char="•"/>
            </a:pPr>
            <a:r>
              <a:rPr lang="en-GB" sz="1800" dirty="0"/>
              <a:t>Creates flashcards for revision. </a:t>
            </a:r>
          </a:p>
          <a:p>
            <a:pPr marL="285750" indent="-285750">
              <a:buFont typeface="Arial" panose="020B0604020202020204" pitchFamily="34" charset="0"/>
              <a:buChar char="•"/>
            </a:pPr>
            <a:r>
              <a:rPr lang="en-GB" sz="1800" dirty="0"/>
              <a:t>Generates quizzes for self-assessment. </a:t>
            </a:r>
          </a:p>
          <a:p>
            <a:pPr marL="285750" indent="-285750">
              <a:buFont typeface="Arial" panose="020B0604020202020204" pitchFamily="34" charset="0"/>
              <a:buChar char="•"/>
            </a:pPr>
            <a:r>
              <a:rPr lang="en-GB" sz="1800" dirty="0"/>
              <a:t>Provides personalized learning support using IBM watsonx.ai.</a:t>
            </a:r>
          </a:p>
          <a:p>
            <a:pPr marL="0" marR="0" lvl="0" indent="0" algn="l" rtl="0">
              <a:lnSpc>
                <a:spcPct val="100000"/>
              </a:lnSpc>
              <a:spcBef>
                <a:spcPts val="0"/>
              </a:spcBef>
              <a:spcAft>
                <a:spcPts val="0"/>
              </a:spcAft>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dirty="0">
              <a:solidFill>
                <a:srgbClr val="000000"/>
              </a:solidFill>
              <a:latin typeface="Arial"/>
              <a:ea typeface="Arial"/>
              <a:cs typeface="Arial"/>
              <a:sym typeface="Arial"/>
            </a:endParaRPr>
          </a:p>
        </p:txBody>
      </p:sp>
      <p:sp>
        <p:nvSpPr>
          <p:cNvPr id="96" name="Google Shape;96;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Problem Statement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5468" y="1168656"/>
            <a:ext cx="10607040" cy="52629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600" b="1" i="0" u="none" strike="noStrike" cap="none" dirty="0">
              <a:solidFill>
                <a:srgbClr val="000000"/>
              </a:solidFill>
              <a:latin typeface="Arial"/>
              <a:ea typeface="Arial"/>
              <a:cs typeface="Arial"/>
              <a:sym typeface="Arial"/>
            </a:endParaRPr>
          </a:p>
          <a:p>
            <a:r>
              <a:rPr lang="en-US" sz="1600" b="1" i="0" u="none" strike="noStrike" cap="none" dirty="0">
                <a:solidFill>
                  <a:srgbClr val="000000"/>
                </a:solidFill>
                <a:latin typeface="Arial"/>
                <a:ea typeface="Arial"/>
                <a:cs typeface="Arial"/>
                <a:sym typeface="Arial"/>
              </a:rPr>
              <a:t>Proposed Solution: </a:t>
            </a:r>
            <a:r>
              <a:rPr lang="en-IN" sz="1600" b="1" dirty="0"/>
              <a:t>Course Content Simplification Agent</a:t>
            </a:r>
            <a:endParaRPr lang="en-IN" sz="1600" dirty="0"/>
          </a:p>
          <a:p>
            <a:r>
              <a:rPr lang="en-GB" sz="1600" dirty="0"/>
              <a:t>The proposed solution is an AI-powered Course Content Simplification Agent developed using IBM watsonx.ai Studio and IBM Foundation Models.</a:t>
            </a:r>
          </a:p>
          <a:p>
            <a:endParaRPr lang="en-GB" sz="1600" dirty="0"/>
          </a:p>
          <a:p>
            <a:r>
              <a:rPr lang="en-GB" sz="1600" dirty="0"/>
              <a:t>The application allows students to upload educational content in PDF, DOCX, TXT formats or paste text directly.</a:t>
            </a:r>
          </a:p>
          <a:p>
            <a:r>
              <a:rPr lang="en-GB" sz="1600" dirty="0"/>
              <a:t>Based on the selected learner level (Beginner, Intermediate, High School, Undergraduate, Engineering Student, Expert), the AI:</a:t>
            </a:r>
          </a:p>
          <a:p>
            <a:endParaRPr lang="en-GB" sz="1600" dirty="0"/>
          </a:p>
          <a:p>
            <a:pPr marL="285750" indent="-285750">
              <a:buFont typeface="Arial" panose="020B0604020202020204" pitchFamily="34" charset="0"/>
              <a:buChar char="•"/>
            </a:pPr>
            <a:r>
              <a:rPr lang="en-GB" sz="1600" dirty="0"/>
              <a:t>Simplifies the content </a:t>
            </a:r>
          </a:p>
          <a:p>
            <a:pPr marL="285750" indent="-285750">
              <a:buFont typeface="Arial" panose="020B0604020202020204" pitchFamily="34" charset="0"/>
              <a:buChar char="•"/>
            </a:pPr>
            <a:r>
              <a:rPr lang="en-GB" sz="1600" dirty="0"/>
              <a:t>Generates a concise summary </a:t>
            </a:r>
          </a:p>
          <a:p>
            <a:pPr marL="285750" indent="-285750">
              <a:buFont typeface="Arial" panose="020B0604020202020204" pitchFamily="34" charset="0"/>
              <a:buChar char="•"/>
            </a:pPr>
            <a:r>
              <a:rPr lang="en-GB" sz="1600" dirty="0"/>
              <a:t>Extracts key points </a:t>
            </a:r>
          </a:p>
          <a:p>
            <a:pPr marL="285750" indent="-285750">
              <a:buFont typeface="Arial" panose="020B0604020202020204" pitchFamily="34" charset="0"/>
              <a:buChar char="•"/>
            </a:pPr>
            <a:r>
              <a:rPr lang="en-GB" sz="1600" dirty="0"/>
              <a:t>Explains difficult terms </a:t>
            </a:r>
          </a:p>
          <a:p>
            <a:pPr marL="285750" indent="-285750">
              <a:buFont typeface="Arial" panose="020B0604020202020204" pitchFamily="34" charset="0"/>
              <a:buChar char="•"/>
            </a:pPr>
            <a:r>
              <a:rPr lang="en-GB" sz="1600" dirty="0"/>
              <a:t>Creates flashcards </a:t>
            </a:r>
          </a:p>
          <a:p>
            <a:pPr marL="285750" indent="-285750">
              <a:buFont typeface="Arial" panose="020B0604020202020204" pitchFamily="34" charset="0"/>
              <a:buChar char="•"/>
            </a:pPr>
            <a:r>
              <a:rPr lang="en-GB" sz="1600" dirty="0"/>
              <a:t>Generates multiple-choice quiz questions </a:t>
            </a:r>
          </a:p>
          <a:p>
            <a:endParaRPr lang="en-GB" sz="1600" dirty="0"/>
          </a:p>
          <a:p>
            <a:r>
              <a:rPr lang="en-GB" sz="1600" dirty="0"/>
              <a:t>The backend is built using </a:t>
            </a:r>
            <a:r>
              <a:rPr lang="en-GB" sz="1600" dirty="0" err="1"/>
              <a:t>FastAPI</a:t>
            </a:r>
            <a:r>
              <a:rPr lang="en-GB" sz="1600" dirty="0"/>
              <a:t>, while the frontend is developed using React.</a:t>
            </a:r>
          </a:p>
          <a:p>
            <a:endParaRPr lang="en-GB" sz="1600" dirty="0"/>
          </a:p>
          <a:p>
            <a:r>
              <a:rPr lang="en-GB" sz="1600" dirty="0"/>
              <a:t>IBM watsonx.ai powers the AI-based content generation through Foundation Models.</a:t>
            </a:r>
          </a:p>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102" name="Google Shape;102;p35"/>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Proposed Solution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08" name="Google Shape;108;p36"/>
          <p:cNvSpPr txBox="1"/>
          <p:nvPr/>
        </p:nvSpPr>
        <p:spPr>
          <a:xfrm>
            <a:off x="777240" y="1207008"/>
            <a:ext cx="10515600" cy="4678163"/>
          </a:xfrm>
          <a:prstGeom prst="rect">
            <a:avLst/>
          </a:prstGeom>
          <a:noFill/>
          <a:ln>
            <a:noFill/>
          </a:ln>
        </p:spPr>
        <p:txBody>
          <a:bodyPr spcFirstLastPara="1" wrap="square" lIns="91425" tIns="45700" rIns="91425" bIns="45700" anchor="t" anchorCtr="0">
            <a:spAutoFit/>
          </a:bodyPr>
          <a:lstStyle/>
          <a:p>
            <a:pPr marL="285750" indent="-285750">
              <a:buFont typeface="Arial" panose="020B0604020202020204" pitchFamily="34" charset="0"/>
              <a:buChar char="•"/>
            </a:pPr>
            <a:r>
              <a:rPr lang="en-IN" sz="1800" b="1" dirty="0"/>
              <a:t>IBM watsonx.ai Studio : </a:t>
            </a:r>
            <a:r>
              <a:rPr lang="en-IN" sz="1800" dirty="0"/>
              <a:t>Used for accessing IBM Foundation Models to simplify educational content.</a:t>
            </a:r>
          </a:p>
          <a:p>
            <a:pPr marL="285750" lvl="8" indent="-285750">
              <a:buFont typeface="Arial" panose="020B0604020202020204" pitchFamily="34" charset="0"/>
              <a:buChar char="•"/>
            </a:pPr>
            <a:r>
              <a:rPr lang="en-IN" sz="1800" b="1" dirty="0"/>
              <a:t>IBM Foundation Models : </a:t>
            </a:r>
            <a:r>
              <a:rPr lang="en-IN" sz="1800" dirty="0"/>
              <a:t>Used for: Content Simplification </a:t>
            </a:r>
          </a:p>
          <a:p>
            <a:pPr lvl="5"/>
            <a:r>
              <a:rPr lang="en-IN" sz="1800" dirty="0"/>
              <a:t>                                                               Summary Generation </a:t>
            </a:r>
          </a:p>
          <a:p>
            <a:pPr lvl="5"/>
            <a:r>
              <a:rPr lang="en-IN" sz="1800" dirty="0"/>
              <a:t>                                                               Flashcard Generation </a:t>
            </a:r>
          </a:p>
          <a:p>
            <a:pPr lvl="5"/>
            <a:r>
              <a:rPr lang="en-IN" sz="1800" dirty="0"/>
              <a:t>                                                               Quiz Generation </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b="1" dirty="0" err="1"/>
              <a:t>FastAPI</a:t>
            </a:r>
            <a:r>
              <a:rPr lang="en-IN" sz="1800" b="1" dirty="0"/>
              <a:t> : </a:t>
            </a:r>
            <a:r>
              <a:rPr lang="en-IN" sz="1800" dirty="0"/>
              <a:t>Backend REST API development.</a:t>
            </a:r>
          </a:p>
          <a:p>
            <a:pPr marL="285750" indent="-285750">
              <a:buFont typeface="Arial" panose="020B0604020202020204" pitchFamily="34" charset="0"/>
              <a:buChar char="•"/>
            </a:pPr>
            <a:r>
              <a:rPr lang="en-IN" sz="1800" b="1" dirty="0"/>
              <a:t>React.js : </a:t>
            </a:r>
            <a:r>
              <a:rPr lang="en-IN" sz="1800" dirty="0"/>
              <a:t>Responsive user interface.</a:t>
            </a:r>
          </a:p>
          <a:p>
            <a:pPr marL="285750" indent="-285750">
              <a:buFont typeface="Arial" panose="020B0604020202020204" pitchFamily="34" charset="0"/>
              <a:buChar char="•"/>
            </a:pPr>
            <a:r>
              <a:rPr lang="en-IN" sz="1800" b="1" dirty="0"/>
              <a:t>Tailwind CSS : </a:t>
            </a:r>
            <a:r>
              <a:rPr lang="en-IN" sz="1800" dirty="0"/>
              <a:t>Modern frontend styling.</a:t>
            </a:r>
          </a:p>
          <a:p>
            <a:pPr marL="285750" indent="-285750">
              <a:buFont typeface="Arial" panose="020B0604020202020204" pitchFamily="34" charset="0"/>
              <a:buChar char="•"/>
            </a:pPr>
            <a:r>
              <a:rPr lang="en-IN" sz="1800" b="1" dirty="0"/>
              <a:t>Python : </a:t>
            </a:r>
            <a:r>
              <a:rPr lang="en-IN" sz="1800" dirty="0"/>
              <a:t>Backend development.</a:t>
            </a:r>
          </a:p>
          <a:p>
            <a:pPr marL="285750" indent="-285750">
              <a:buFont typeface="Arial" panose="020B0604020202020204" pitchFamily="34" charset="0"/>
              <a:buChar char="•"/>
            </a:pPr>
            <a:r>
              <a:rPr lang="en-IN" sz="1800" b="1" dirty="0" err="1"/>
              <a:t>PyMuPDF</a:t>
            </a:r>
            <a:r>
              <a:rPr lang="en-IN" sz="1800" b="1" dirty="0"/>
              <a:t> : </a:t>
            </a:r>
            <a:r>
              <a:rPr lang="en-IN" sz="1800" dirty="0"/>
              <a:t>Extracts text from PDF files.</a:t>
            </a:r>
          </a:p>
          <a:p>
            <a:pPr marL="285750" indent="-285750">
              <a:buFont typeface="Arial" panose="020B0604020202020204" pitchFamily="34" charset="0"/>
              <a:buChar char="•"/>
            </a:pPr>
            <a:r>
              <a:rPr lang="en-IN" sz="1800" b="1" dirty="0"/>
              <a:t>python-docx : </a:t>
            </a:r>
            <a:r>
              <a:rPr lang="en-IN" sz="1800" dirty="0"/>
              <a:t>Reads DOCX documents.</a:t>
            </a: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t>C</a:t>
            </a:r>
            <a:r>
              <a:rPr lang="en-US" sz="2400" b="1" i="0" u="none" strike="noStrike" cap="none" dirty="0">
                <a:solidFill>
                  <a:srgbClr val="000000"/>
                </a:solidFill>
                <a:latin typeface="Arial"/>
                <a:ea typeface="Arial"/>
                <a:cs typeface="Arial"/>
                <a:sym typeface="Arial"/>
              </a:rPr>
              <a:t>omponent Used -</a:t>
            </a:r>
            <a:endParaRPr sz="2400" b="1" i="0" u="none" strike="noStrike" cap="none" dirty="0">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1371004" y="812068"/>
            <a:ext cx="8823960" cy="6247824"/>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Font typeface="+mj-lt"/>
              <a:buAutoNum type="arabicPeriod"/>
            </a:pPr>
            <a:endParaRPr sz="1600" b="0" i="0" u="none" strike="noStrike" cap="none" dirty="0">
              <a:solidFill>
                <a:srgbClr val="000000"/>
              </a:solidFill>
              <a:latin typeface="Arial"/>
              <a:ea typeface="Arial"/>
              <a:cs typeface="Arial"/>
              <a:sym typeface="Arial"/>
            </a:endParaRPr>
          </a:p>
          <a:p>
            <a:pPr marL="342900" indent="-342900">
              <a:buFont typeface="Wingdings" panose="05000000000000000000" pitchFamily="2" charset="2"/>
              <a:buChar char="Ø"/>
            </a:pPr>
            <a:r>
              <a:rPr lang="en-IN" sz="1600" b="1" dirty="0"/>
              <a:t>IBM Components:</a:t>
            </a:r>
          </a:p>
          <a:p>
            <a:endParaRPr lang="en-IN" sz="1600" b="1" dirty="0"/>
          </a:p>
          <a:p>
            <a:r>
              <a:rPr lang="en-IN" sz="1600" b="1" dirty="0"/>
              <a:t>	IBM watsonx.ai Studio</a:t>
            </a:r>
          </a:p>
          <a:p>
            <a:r>
              <a:rPr lang="en-IN" sz="1600" dirty="0"/>
              <a:t>		Used for AI model inference.</a:t>
            </a:r>
          </a:p>
          <a:p>
            <a:pPr lvl="1"/>
            <a:r>
              <a:rPr lang="en-IN" sz="1600" b="1" dirty="0"/>
              <a:t>	IBM Foundation Model</a:t>
            </a:r>
          </a:p>
          <a:p>
            <a:pPr lvl="3"/>
            <a:r>
              <a:rPr lang="en-IN" sz="1600" dirty="0"/>
              <a:t>		Example:</a:t>
            </a:r>
          </a:p>
          <a:p>
            <a:r>
              <a:rPr lang="en-IN" sz="1600" dirty="0"/>
              <a:t>			Meta Llama 3.3 70B Instruct</a:t>
            </a:r>
          </a:p>
          <a:p>
            <a:r>
              <a:rPr lang="en-IN" sz="1600" dirty="0"/>
              <a:t>			Used for:</a:t>
            </a:r>
          </a:p>
          <a:p>
            <a:r>
              <a:rPr lang="en-IN" sz="1600" dirty="0"/>
              <a:t>				Text Simplification </a:t>
            </a:r>
          </a:p>
          <a:p>
            <a:r>
              <a:rPr lang="en-IN" sz="1600" dirty="0"/>
              <a:t>				Summarization </a:t>
            </a:r>
          </a:p>
          <a:p>
            <a:r>
              <a:rPr lang="en-IN" sz="1600" dirty="0"/>
              <a:t>				Quiz Generation </a:t>
            </a:r>
          </a:p>
          <a:p>
            <a:r>
              <a:rPr lang="en-IN" sz="1600" dirty="0"/>
              <a:t>				Flashcard Generation </a:t>
            </a:r>
          </a:p>
          <a:p>
            <a:pPr marL="285750" indent="-285750">
              <a:buFont typeface="Wingdings" panose="05000000000000000000" pitchFamily="2" charset="2"/>
              <a:buChar char="Ø"/>
            </a:pPr>
            <a:r>
              <a:rPr lang="en-IN" sz="1600" b="1" dirty="0"/>
              <a:t>API Key Authentication</a:t>
            </a:r>
          </a:p>
          <a:p>
            <a:r>
              <a:rPr lang="en-IN" sz="1600" dirty="0"/>
              <a:t>	Secure access to IBM watsonx.ai.</a:t>
            </a:r>
          </a:p>
          <a:p>
            <a:pPr marL="342900" indent="-342900">
              <a:buFont typeface="+mj-lt"/>
              <a:buAutoNum type="arabicPeriod"/>
            </a:pPr>
            <a:endParaRPr lang="en-IN" sz="1600" dirty="0"/>
          </a:p>
          <a:p>
            <a:endParaRPr lang="en-IN" sz="1600" dirty="0"/>
          </a:p>
          <a:p>
            <a:pPr marL="342900" indent="-342900">
              <a:buFont typeface="Wingdings" panose="05000000000000000000" pitchFamily="2" charset="2"/>
              <a:buChar char="Ø"/>
            </a:pPr>
            <a:r>
              <a:rPr lang="en-IN" sz="1600" b="1" dirty="0"/>
              <a:t>Project ID</a:t>
            </a:r>
          </a:p>
          <a:p>
            <a:r>
              <a:rPr lang="en-IN" sz="1600" dirty="0"/>
              <a:t>	Connects the application to IBM watsonx.ai Studio.</a:t>
            </a:r>
          </a:p>
          <a:p>
            <a:pPr marL="342900" marR="0" lvl="0" indent="-342900" algn="l" rtl="0">
              <a:lnSpc>
                <a:spcPct val="100000"/>
              </a:lnSpc>
              <a:spcBef>
                <a:spcPts val="0"/>
              </a:spcBef>
              <a:spcAft>
                <a:spcPts val="0"/>
              </a:spcAft>
              <a:buFont typeface="+mj-lt"/>
              <a:buAutoNum type="arabicPeriod"/>
            </a:pPr>
            <a:endParaRPr sz="16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Font typeface="+mj-lt"/>
              <a:buAutoNum type="arabicPeriod"/>
            </a:pPr>
            <a:endParaRPr sz="16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Font typeface="+mj-lt"/>
              <a:buAutoNum type="arabicPeriod"/>
            </a:pPr>
            <a:endParaRPr sz="16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Font typeface="+mj-lt"/>
              <a:buAutoNum type="arabicPeriod"/>
            </a:pPr>
            <a:endParaRPr sz="16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Font typeface="+mj-lt"/>
              <a:buAutoNum type="arabicPeriod"/>
            </a:pPr>
            <a:endParaRPr sz="1600" b="0" i="0" u="none" strike="noStrike" cap="none" dirty="0">
              <a:solidFill>
                <a:srgbClr val="000000"/>
              </a:solidFill>
              <a:latin typeface="Arial"/>
              <a:ea typeface="Arial"/>
              <a:cs typeface="Arial"/>
              <a:sym typeface="Arial"/>
            </a:endParaRPr>
          </a:p>
          <a:p>
            <a:pPr marR="0" lvl="0" algn="l" rtl="0">
              <a:lnSpc>
                <a:spcPct val="100000"/>
              </a:lnSpc>
              <a:spcBef>
                <a:spcPts val="0"/>
              </a:spcBef>
              <a:spcAft>
                <a:spcPts val="0"/>
              </a:spcAft>
            </a:pPr>
            <a:r>
              <a:rPr lang="en-US" sz="1600" b="0" i="0" u="none" strike="noStrike" cap="none" dirty="0">
                <a:solidFill>
                  <a:srgbClr val="000000"/>
                </a:solidFill>
                <a:latin typeface="Arial"/>
                <a:ea typeface="Arial"/>
                <a:cs typeface="Arial"/>
                <a:sym typeface="Arial"/>
              </a:rPr>
              <a:t> </a:t>
            </a:r>
            <a:endParaRPr sz="16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t>W</a:t>
            </a:r>
            <a:r>
              <a:rPr lang="en-US" sz="2400" b="1" i="0" u="none" strike="noStrike" cap="none" dirty="0">
                <a:solidFill>
                  <a:srgbClr val="000000"/>
                </a:solidFill>
                <a:latin typeface="Arial"/>
                <a:ea typeface="Arial"/>
                <a:cs typeface="Arial"/>
                <a:sym typeface="Arial"/>
              </a:rPr>
              <a:t>orkflow -</a:t>
            </a:r>
            <a:endParaRPr sz="2400" b="1" i="0" u="none" strike="noStrike" cap="none" dirty="0">
              <a:solidFill>
                <a:srgbClr val="000000"/>
              </a:solidFill>
              <a:latin typeface="Arial"/>
              <a:ea typeface="Arial"/>
              <a:cs typeface="Arial"/>
              <a:sym typeface="Arial"/>
            </a:endParaRPr>
          </a:p>
        </p:txBody>
      </p:sp>
      <p:pic>
        <p:nvPicPr>
          <p:cNvPr id="4" name="Picture 3">
            <a:extLst>
              <a:ext uri="{FF2B5EF4-FFF2-40B4-BE49-F238E27FC236}">
                <a16:creationId xmlns:a16="http://schemas.microsoft.com/office/drawing/2014/main" id="{CC76E038-6F3C-C3EB-996D-18D6E00CDF7E}"/>
              </a:ext>
            </a:extLst>
          </p:cNvPr>
          <p:cNvPicPr>
            <a:picLocks noChangeAspect="1"/>
          </p:cNvPicPr>
          <p:nvPr/>
        </p:nvPicPr>
        <p:blipFill>
          <a:blip r:embed="rId3"/>
          <a:stretch>
            <a:fillRect/>
          </a:stretch>
        </p:blipFill>
        <p:spPr>
          <a:xfrm>
            <a:off x="845906" y="1089458"/>
            <a:ext cx="10500188" cy="525009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a:solidFill>
                  <a:schemeClr val="dk1"/>
                </a:solidFill>
                <a:latin typeface="Calibri"/>
                <a:ea typeface="Calibri"/>
                <a:cs typeface="Calibri"/>
                <a:sym typeface="Calibri"/>
              </a:rPr>
              <a:t>Architecture blueprint</a:t>
            </a:r>
            <a:endParaRPr sz="2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48874184-01B5-E5A1-438B-F3B4DF34DA30}"/>
              </a:ext>
            </a:extLst>
          </p:cNvPr>
          <p:cNvPicPr>
            <a:picLocks noChangeAspect="1"/>
          </p:cNvPicPr>
          <p:nvPr/>
        </p:nvPicPr>
        <p:blipFill>
          <a:blip r:embed="rId3"/>
          <a:stretch>
            <a:fillRect/>
          </a:stretch>
        </p:blipFill>
        <p:spPr>
          <a:xfrm>
            <a:off x="1106611" y="878837"/>
            <a:ext cx="10174414" cy="565592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8" name="Google Shape;138;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9" name="Google Shape;139;p9"/>
          <p:cNvSpPr txBox="1"/>
          <p:nvPr/>
        </p:nvSpPr>
        <p:spPr>
          <a:xfrm>
            <a:off x="621792" y="1167493"/>
            <a:ext cx="7406640" cy="4739719"/>
          </a:xfrm>
          <a:prstGeom prst="rect">
            <a:avLst/>
          </a:prstGeom>
          <a:noFill/>
          <a:ln>
            <a:noFill/>
          </a:ln>
        </p:spPr>
        <p:txBody>
          <a:bodyPr spcFirstLastPara="1" wrap="square" lIns="91425" tIns="45700" rIns="91425" bIns="45700" anchor="t" anchorCtr="0">
            <a:spAutoFit/>
          </a:bodyPr>
          <a:lstStyle/>
          <a:p>
            <a:r>
              <a:rPr lang="en-IN" sz="1800" b="1" dirty="0"/>
              <a:t>Role of Agentic AI in </a:t>
            </a:r>
            <a:r>
              <a:rPr lang="en-GB" sz="1800" b="1" dirty="0"/>
              <a:t>Course Content Simplification Agent:</a:t>
            </a:r>
          </a:p>
          <a:p>
            <a:endParaRPr lang="en-GB" dirty="0"/>
          </a:p>
          <a:p>
            <a:endParaRPr lang="en-GB" dirty="0"/>
          </a:p>
          <a:p>
            <a:r>
              <a:rPr lang="en-IN" dirty="0"/>
              <a:t> </a:t>
            </a:r>
            <a:r>
              <a:rPr lang="en-GB" sz="1600" dirty="0"/>
              <a:t>Agentic AI enables the Course Content Simplification Agent to function as an intelligent educational assistant rather than a traditional text summarizer. Using IBM watsonx.ai Studio and IBM Foundation Models, the system understands the complexity of academic content and adapts explanations according to the learner's knowledge level.</a:t>
            </a:r>
          </a:p>
          <a:p>
            <a:endParaRPr lang="en-GB" sz="1600" dirty="0"/>
          </a:p>
          <a:p>
            <a:r>
              <a:rPr lang="en-GB" sz="1600" dirty="0"/>
              <a:t>The AI autonomously performs multiple educational tasks including simplifying difficult concepts, generating summaries, identifying important points, explaining technical terminology, creating revision flashcards, and producing assessment quizzes. By understanding both the content and the learner's proficiency level, the system delivers personalized educational support that improves comprehension and encourages effective learning.</a:t>
            </a:r>
          </a:p>
          <a:p>
            <a:endParaRPr lang="en-GB" sz="1600" dirty="0"/>
          </a:p>
          <a:p>
            <a:r>
              <a:rPr lang="en-GB" sz="1600" dirty="0"/>
              <a:t>Overall, Agentic AI transforms static educational resources into dynamic, personalized learning material that enhances accessibility and promotes inclusive education.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9"/>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dirty="0"/>
              <a:t>My Work</a:t>
            </a:r>
            <a:r>
              <a:rPr lang="en-US" sz="2400" b="1" i="0" u="none" strike="noStrike" cap="none" dirty="0">
                <a:solidFill>
                  <a:srgbClr val="000000"/>
                </a:solidFill>
                <a:latin typeface="Arial"/>
                <a:ea typeface="Arial"/>
                <a:cs typeface="Arial"/>
                <a:sym typeface="Arial"/>
              </a:rPr>
              <a:t> </a:t>
            </a:r>
            <a:endParaRPr sz="2400" b="1"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437EA13E-785D-EE9C-549C-84D0DA9DC4E2}"/>
              </a:ext>
            </a:extLst>
          </p:cNvPr>
          <p:cNvPicPr>
            <a:picLocks noChangeAspect="1"/>
          </p:cNvPicPr>
          <p:nvPr/>
        </p:nvPicPr>
        <p:blipFill>
          <a:blip r:embed="rId3"/>
          <a:stretch>
            <a:fillRect/>
          </a:stretch>
        </p:blipFill>
        <p:spPr>
          <a:xfrm>
            <a:off x="1091142" y="890151"/>
            <a:ext cx="10500189" cy="57263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BF6FA21A-D449-0DD8-DD1B-2E4D7745382F}"/>
            </a:ext>
          </a:extLst>
        </p:cNvPr>
        <p:cNvGrpSpPr/>
        <p:nvPr/>
      </p:nvGrpSpPr>
      <p:grpSpPr>
        <a:xfrm>
          <a:off x="0" y="0"/>
          <a:ext cx="0" cy="0"/>
          <a:chOff x="0" y="0"/>
          <a:chExt cx="0" cy="0"/>
        </a:xfrm>
      </p:grpSpPr>
      <p:sp>
        <p:nvSpPr>
          <p:cNvPr id="144" name="Google Shape;144;p39">
            <a:extLst>
              <a:ext uri="{FF2B5EF4-FFF2-40B4-BE49-F238E27FC236}">
                <a16:creationId xmlns:a16="http://schemas.microsoft.com/office/drawing/2014/main" id="{ABEE2185-1820-B1BB-A64A-DE14F0DF6C80}"/>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dirty="0"/>
              <a:t>My Work</a:t>
            </a:r>
            <a:r>
              <a:rPr lang="en-US" sz="2400" b="1" i="0" u="none" strike="noStrike" cap="none" dirty="0">
                <a:solidFill>
                  <a:srgbClr val="000000"/>
                </a:solidFill>
                <a:latin typeface="Arial"/>
                <a:ea typeface="Arial"/>
                <a:cs typeface="Arial"/>
                <a:sym typeface="Arial"/>
              </a:rPr>
              <a:t> </a:t>
            </a:r>
            <a:endParaRPr sz="2400" b="1" i="0" u="none" strike="noStrike" cap="none" dirty="0">
              <a:solidFill>
                <a:srgbClr val="000000"/>
              </a:solidFill>
              <a:latin typeface="Arial"/>
              <a:ea typeface="Arial"/>
              <a:cs typeface="Arial"/>
              <a:sym typeface="Arial"/>
            </a:endParaRPr>
          </a:p>
        </p:txBody>
      </p:sp>
      <p:pic>
        <p:nvPicPr>
          <p:cNvPr id="4" name="Picture 3">
            <a:extLst>
              <a:ext uri="{FF2B5EF4-FFF2-40B4-BE49-F238E27FC236}">
                <a16:creationId xmlns:a16="http://schemas.microsoft.com/office/drawing/2014/main" id="{179742C2-3144-1CCB-9385-F0A1BFE895CF}"/>
              </a:ext>
            </a:extLst>
          </p:cNvPr>
          <p:cNvPicPr>
            <a:picLocks noChangeAspect="1"/>
          </p:cNvPicPr>
          <p:nvPr/>
        </p:nvPicPr>
        <p:blipFill>
          <a:blip r:embed="rId3"/>
          <a:stretch>
            <a:fillRect/>
          </a:stretch>
        </p:blipFill>
        <p:spPr>
          <a:xfrm>
            <a:off x="472611" y="1045577"/>
            <a:ext cx="10674850" cy="5557743"/>
          </a:xfrm>
          <a:prstGeom prst="rect">
            <a:avLst/>
          </a:prstGeom>
        </p:spPr>
      </p:pic>
    </p:spTree>
    <p:extLst>
      <p:ext uri="{BB962C8B-B14F-4D97-AF65-F5344CB8AC3E}">
        <p14:creationId xmlns:p14="http://schemas.microsoft.com/office/powerpoint/2010/main" val="3411743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A37AD259-524B-BFBD-1805-82A729FC5618}"/>
            </a:ext>
          </a:extLst>
        </p:cNvPr>
        <p:cNvGrpSpPr/>
        <p:nvPr/>
      </p:nvGrpSpPr>
      <p:grpSpPr>
        <a:xfrm>
          <a:off x="0" y="0"/>
          <a:ext cx="0" cy="0"/>
          <a:chOff x="0" y="0"/>
          <a:chExt cx="0" cy="0"/>
        </a:xfrm>
      </p:grpSpPr>
      <p:sp>
        <p:nvSpPr>
          <p:cNvPr id="144" name="Google Shape;144;p39">
            <a:extLst>
              <a:ext uri="{FF2B5EF4-FFF2-40B4-BE49-F238E27FC236}">
                <a16:creationId xmlns:a16="http://schemas.microsoft.com/office/drawing/2014/main" id="{8D918BA3-B4F2-62FC-1390-9D4B457EAC23}"/>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dirty="0"/>
              <a:t>My Work</a:t>
            </a:r>
            <a:r>
              <a:rPr lang="en-US" sz="2400" b="1" i="0" u="none" strike="noStrike" cap="none" dirty="0">
                <a:solidFill>
                  <a:srgbClr val="000000"/>
                </a:solidFill>
                <a:latin typeface="Arial"/>
                <a:ea typeface="Arial"/>
                <a:cs typeface="Arial"/>
                <a:sym typeface="Arial"/>
              </a:rPr>
              <a:t> </a:t>
            </a:r>
            <a:endParaRPr sz="2400" b="1"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115C0FDF-F68D-ED29-1A34-224099D631F1}"/>
              </a:ext>
            </a:extLst>
          </p:cNvPr>
          <p:cNvPicPr>
            <a:picLocks noChangeAspect="1"/>
          </p:cNvPicPr>
          <p:nvPr/>
        </p:nvPicPr>
        <p:blipFill>
          <a:blip r:embed="rId3"/>
          <a:stretch>
            <a:fillRect/>
          </a:stretch>
        </p:blipFill>
        <p:spPr>
          <a:xfrm>
            <a:off x="606175" y="1045577"/>
            <a:ext cx="10397447" cy="5635796"/>
          </a:xfrm>
          <a:prstGeom prst="rect">
            <a:avLst/>
          </a:prstGeom>
        </p:spPr>
      </p:pic>
    </p:spTree>
    <p:extLst>
      <p:ext uri="{BB962C8B-B14F-4D97-AF65-F5344CB8AC3E}">
        <p14:creationId xmlns:p14="http://schemas.microsoft.com/office/powerpoint/2010/main" val="322325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D76132A7-D5C8-0FAA-A328-3CFE483CA465}"/>
            </a:ext>
          </a:extLst>
        </p:cNvPr>
        <p:cNvGrpSpPr/>
        <p:nvPr/>
      </p:nvGrpSpPr>
      <p:grpSpPr>
        <a:xfrm>
          <a:off x="0" y="0"/>
          <a:ext cx="0" cy="0"/>
          <a:chOff x="0" y="0"/>
          <a:chExt cx="0" cy="0"/>
        </a:xfrm>
      </p:grpSpPr>
      <p:sp>
        <p:nvSpPr>
          <p:cNvPr id="144" name="Google Shape;144;p39">
            <a:extLst>
              <a:ext uri="{FF2B5EF4-FFF2-40B4-BE49-F238E27FC236}">
                <a16:creationId xmlns:a16="http://schemas.microsoft.com/office/drawing/2014/main" id="{D7F586D0-2BDB-17C1-CEDA-8BCDFF48FA9E}"/>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dirty="0"/>
              <a:t>My Work</a:t>
            </a:r>
            <a:r>
              <a:rPr lang="en-US" sz="2400" b="1" i="0" u="none" strike="noStrike" cap="none" dirty="0">
                <a:solidFill>
                  <a:srgbClr val="000000"/>
                </a:solidFill>
                <a:latin typeface="Arial"/>
                <a:ea typeface="Arial"/>
                <a:cs typeface="Arial"/>
                <a:sym typeface="Arial"/>
              </a:rPr>
              <a:t> </a:t>
            </a:r>
            <a:endParaRPr sz="2400" b="1" i="0" u="none" strike="noStrike" cap="none" dirty="0">
              <a:solidFill>
                <a:srgbClr val="000000"/>
              </a:solidFill>
              <a:latin typeface="Arial"/>
              <a:ea typeface="Arial"/>
              <a:cs typeface="Arial"/>
              <a:sym typeface="Arial"/>
            </a:endParaRPr>
          </a:p>
        </p:txBody>
      </p:sp>
      <p:pic>
        <p:nvPicPr>
          <p:cNvPr id="4" name="Picture 3">
            <a:extLst>
              <a:ext uri="{FF2B5EF4-FFF2-40B4-BE49-F238E27FC236}">
                <a16:creationId xmlns:a16="http://schemas.microsoft.com/office/drawing/2014/main" id="{FBF8748F-18CD-E2D0-129D-2BDDDD31F2E8}"/>
              </a:ext>
            </a:extLst>
          </p:cNvPr>
          <p:cNvPicPr>
            <a:picLocks noChangeAspect="1"/>
          </p:cNvPicPr>
          <p:nvPr/>
        </p:nvPicPr>
        <p:blipFill>
          <a:blip r:embed="rId3"/>
          <a:stretch>
            <a:fillRect/>
          </a:stretch>
        </p:blipFill>
        <p:spPr>
          <a:xfrm>
            <a:off x="472611" y="1026796"/>
            <a:ext cx="11157735" cy="5489644"/>
          </a:xfrm>
          <a:prstGeom prst="rect">
            <a:avLst/>
          </a:prstGeom>
        </p:spPr>
      </p:pic>
    </p:spTree>
    <p:extLst>
      <p:ext uri="{BB962C8B-B14F-4D97-AF65-F5344CB8AC3E}">
        <p14:creationId xmlns:p14="http://schemas.microsoft.com/office/powerpoint/2010/main" val="781600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D0FF1852-19D0-1B03-9FE5-537D67E92816}"/>
            </a:ext>
          </a:extLst>
        </p:cNvPr>
        <p:cNvGrpSpPr/>
        <p:nvPr/>
      </p:nvGrpSpPr>
      <p:grpSpPr>
        <a:xfrm>
          <a:off x="0" y="0"/>
          <a:ext cx="0" cy="0"/>
          <a:chOff x="0" y="0"/>
          <a:chExt cx="0" cy="0"/>
        </a:xfrm>
      </p:grpSpPr>
      <p:sp>
        <p:nvSpPr>
          <p:cNvPr id="144" name="Google Shape;144;p39">
            <a:extLst>
              <a:ext uri="{FF2B5EF4-FFF2-40B4-BE49-F238E27FC236}">
                <a16:creationId xmlns:a16="http://schemas.microsoft.com/office/drawing/2014/main" id="{CB3B12E7-6F07-E598-CBDF-BF4680E019E5}"/>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dirty="0"/>
              <a:t>My Work</a:t>
            </a:r>
            <a:r>
              <a:rPr lang="en-US" sz="2400" b="1" i="0" u="none" strike="noStrike" cap="none" dirty="0">
                <a:solidFill>
                  <a:srgbClr val="000000"/>
                </a:solidFill>
                <a:latin typeface="Arial"/>
                <a:ea typeface="Arial"/>
                <a:cs typeface="Arial"/>
                <a:sym typeface="Arial"/>
              </a:rPr>
              <a:t> </a:t>
            </a:r>
            <a:endParaRPr sz="2400" b="1" i="0" u="none" strike="noStrike" cap="none" dirty="0">
              <a:solidFill>
                <a:srgbClr val="000000"/>
              </a:solidFill>
              <a:latin typeface="Arial"/>
              <a:ea typeface="Arial"/>
              <a:cs typeface="Arial"/>
              <a:sym typeface="Arial"/>
            </a:endParaRPr>
          </a:p>
        </p:txBody>
      </p:sp>
      <p:pic>
        <p:nvPicPr>
          <p:cNvPr id="4" name="Picture 3">
            <a:extLst>
              <a:ext uri="{FF2B5EF4-FFF2-40B4-BE49-F238E27FC236}">
                <a16:creationId xmlns:a16="http://schemas.microsoft.com/office/drawing/2014/main" id="{9095258E-B3BC-7469-2806-E40B643970B4}"/>
              </a:ext>
            </a:extLst>
          </p:cNvPr>
          <p:cNvPicPr>
            <a:picLocks noChangeAspect="1"/>
          </p:cNvPicPr>
          <p:nvPr/>
        </p:nvPicPr>
        <p:blipFill>
          <a:blip r:embed="rId3"/>
          <a:stretch>
            <a:fillRect/>
          </a:stretch>
        </p:blipFill>
        <p:spPr>
          <a:xfrm>
            <a:off x="410967" y="911245"/>
            <a:ext cx="10900880" cy="5803790"/>
          </a:xfrm>
          <a:prstGeom prst="rect">
            <a:avLst/>
          </a:prstGeom>
        </p:spPr>
      </p:pic>
    </p:spTree>
    <p:extLst>
      <p:ext uri="{BB962C8B-B14F-4D97-AF65-F5344CB8AC3E}">
        <p14:creationId xmlns:p14="http://schemas.microsoft.com/office/powerpoint/2010/main" val="20783004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2C108B5A-8012-894A-5239-570FA08FCE71}"/>
            </a:ext>
          </a:extLst>
        </p:cNvPr>
        <p:cNvGrpSpPr/>
        <p:nvPr/>
      </p:nvGrpSpPr>
      <p:grpSpPr>
        <a:xfrm>
          <a:off x="0" y="0"/>
          <a:ext cx="0" cy="0"/>
          <a:chOff x="0" y="0"/>
          <a:chExt cx="0" cy="0"/>
        </a:xfrm>
      </p:grpSpPr>
      <p:sp>
        <p:nvSpPr>
          <p:cNvPr id="144" name="Google Shape;144;p39">
            <a:extLst>
              <a:ext uri="{FF2B5EF4-FFF2-40B4-BE49-F238E27FC236}">
                <a16:creationId xmlns:a16="http://schemas.microsoft.com/office/drawing/2014/main" id="{FE90EA80-318D-8A63-33D3-B375C8E6AA54}"/>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dirty="0"/>
              <a:t>My Work</a:t>
            </a:r>
            <a:r>
              <a:rPr lang="en-US" sz="2400" b="1" i="0" u="none" strike="noStrike" cap="none" dirty="0">
                <a:solidFill>
                  <a:srgbClr val="000000"/>
                </a:solidFill>
                <a:latin typeface="Arial"/>
                <a:ea typeface="Arial"/>
                <a:cs typeface="Arial"/>
                <a:sym typeface="Arial"/>
              </a:rPr>
              <a:t> </a:t>
            </a:r>
            <a:endParaRPr sz="2400" b="1" i="0" u="none" strike="noStrike" cap="none" dirty="0">
              <a:solidFill>
                <a:srgbClr val="000000"/>
              </a:solidFill>
              <a:latin typeface="Arial"/>
              <a:ea typeface="Arial"/>
              <a:cs typeface="Arial"/>
              <a:sym typeface="Arial"/>
            </a:endParaRPr>
          </a:p>
        </p:txBody>
      </p:sp>
      <p:pic>
        <p:nvPicPr>
          <p:cNvPr id="4" name="Picture 3">
            <a:extLst>
              <a:ext uri="{FF2B5EF4-FFF2-40B4-BE49-F238E27FC236}">
                <a16:creationId xmlns:a16="http://schemas.microsoft.com/office/drawing/2014/main" id="{16B6F050-4E86-978E-AA04-70227EE02536}"/>
              </a:ext>
            </a:extLst>
          </p:cNvPr>
          <p:cNvPicPr>
            <a:picLocks noChangeAspect="1"/>
          </p:cNvPicPr>
          <p:nvPr/>
        </p:nvPicPr>
        <p:blipFill>
          <a:blip r:embed="rId3"/>
          <a:stretch>
            <a:fillRect/>
          </a:stretch>
        </p:blipFill>
        <p:spPr>
          <a:xfrm>
            <a:off x="513708" y="946942"/>
            <a:ext cx="10572108" cy="5741034"/>
          </a:xfrm>
          <a:prstGeom prst="rect">
            <a:avLst/>
          </a:prstGeom>
        </p:spPr>
      </p:pic>
    </p:spTree>
    <p:extLst>
      <p:ext uri="{BB962C8B-B14F-4D97-AF65-F5344CB8AC3E}">
        <p14:creationId xmlns:p14="http://schemas.microsoft.com/office/powerpoint/2010/main" val="2169443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20FE9029-FDDC-AC2E-2641-D50318E9641E}"/>
            </a:ext>
          </a:extLst>
        </p:cNvPr>
        <p:cNvGrpSpPr/>
        <p:nvPr/>
      </p:nvGrpSpPr>
      <p:grpSpPr>
        <a:xfrm>
          <a:off x="0" y="0"/>
          <a:ext cx="0" cy="0"/>
          <a:chOff x="0" y="0"/>
          <a:chExt cx="0" cy="0"/>
        </a:xfrm>
      </p:grpSpPr>
      <p:sp>
        <p:nvSpPr>
          <p:cNvPr id="144" name="Google Shape;144;p39">
            <a:extLst>
              <a:ext uri="{FF2B5EF4-FFF2-40B4-BE49-F238E27FC236}">
                <a16:creationId xmlns:a16="http://schemas.microsoft.com/office/drawing/2014/main" id="{5580B331-8EC4-14C0-C08D-B97D5E9829A0}"/>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dirty="0"/>
              <a:t>My Work</a:t>
            </a:r>
            <a:r>
              <a:rPr lang="en-US" sz="2400" b="1" i="0" u="none" strike="noStrike" cap="none" dirty="0">
                <a:solidFill>
                  <a:srgbClr val="000000"/>
                </a:solidFill>
                <a:latin typeface="Arial"/>
                <a:ea typeface="Arial"/>
                <a:cs typeface="Arial"/>
                <a:sym typeface="Arial"/>
              </a:rPr>
              <a:t> </a:t>
            </a:r>
            <a:endParaRPr sz="2400" b="1" i="0" u="none" strike="noStrike" cap="none" dirty="0">
              <a:solidFill>
                <a:srgbClr val="000000"/>
              </a:solidFill>
              <a:latin typeface="Arial"/>
              <a:ea typeface="Arial"/>
              <a:cs typeface="Arial"/>
              <a:sym typeface="Arial"/>
            </a:endParaRPr>
          </a:p>
        </p:txBody>
      </p:sp>
      <p:pic>
        <p:nvPicPr>
          <p:cNvPr id="4" name="Picture 3">
            <a:extLst>
              <a:ext uri="{FF2B5EF4-FFF2-40B4-BE49-F238E27FC236}">
                <a16:creationId xmlns:a16="http://schemas.microsoft.com/office/drawing/2014/main" id="{EBD2B31C-6859-0C30-487E-48E8FEFF0A88}"/>
              </a:ext>
            </a:extLst>
          </p:cNvPr>
          <p:cNvPicPr>
            <a:picLocks noChangeAspect="1"/>
          </p:cNvPicPr>
          <p:nvPr/>
        </p:nvPicPr>
        <p:blipFill>
          <a:blip r:embed="rId3"/>
          <a:stretch>
            <a:fillRect/>
          </a:stretch>
        </p:blipFill>
        <p:spPr>
          <a:xfrm>
            <a:off x="482886" y="912012"/>
            <a:ext cx="10486759" cy="5692497"/>
          </a:xfrm>
          <a:prstGeom prst="rect">
            <a:avLst/>
          </a:prstGeom>
        </p:spPr>
      </p:pic>
    </p:spTree>
    <p:extLst>
      <p:ext uri="{BB962C8B-B14F-4D97-AF65-F5344CB8AC3E}">
        <p14:creationId xmlns:p14="http://schemas.microsoft.com/office/powerpoint/2010/main" val="8835476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5128EA30-8AB7-DBE1-F537-47F5F2DCCFFF}"/>
            </a:ext>
          </a:extLst>
        </p:cNvPr>
        <p:cNvGrpSpPr/>
        <p:nvPr/>
      </p:nvGrpSpPr>
      <p:grpSpPr>
        <a:xfrm>
          <a:off x="0" y="0"/>
          <a:ext cx="0" cy="0"/>
          <a:chOff x="0" y="0"/>
          <a:chExt cx="0" cy="0"/>
        </a:xfrm>
      </p:grpSpPr>
      <p:sp>
        <p:nvSpPr>
          <p:cNvPr id="144" name="Google Shape;144;p39">
            <a:extLst>
              <a:ext uri="{FF2B5EF4-FFF2-40B4-BE49-F238E27FC236}">
                <a16:creationId xmlns:a16="http://schemas.microsoft.com/office/drawing/2014/main" id="{6CF59613-870A-CAED-FD14-AEA94A24BFF2}"/>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dirty="0"/>
              <a:t>My Work</a:t>
            </a:r>
            <a:r>
              <a:rPr lang="en-US" sz="2400" b="1" i="0" u="none" strike="noStrike" cap="none" dirty="0">
                <a:solidFill>
                  <a:srgbClr val="000000"/>
                </a:solidFill>
                <a:latin typeface="Arial"/>
                <a:ea typeface="Arial"/>
                <a:cs typeface="Arial"/>
                <a:sym typeface="Arial"/>
              </a:rPr>
              <a:t> </a:t>
            </a:r>
            <a:endParaRPr sz="2400" b="1" i="0" u="none" strike="noStrike" cap="none" dirty="0">
              <a:solidFill>
                <a:srgbClr val="000000"/>
              </a:solidFill>
              <a:latin typeface="Arial"/>
              <a:ea typeface="Arial"/>
              <a:cs typeface="Arial"/>
              <a:sym typeface="Arial"/>
            </a:endParaRPr>
          </a:p>
        </p:txBody>
      </p:sp>
      <p:pic>
        <p:nvPicPr>
          <p:cNvPr id="4" name="Picture 3">
            <a:extLst>
              <a:ext uri="{FF2B5EF4-FFF2-40B4-BE49-F238E27FC236}">
                <a16:creationId xmlns:a16="http://schemas.microsoft.com/office/drawing/2014/main" id="{B6F6D488-6EFD-FFF7-FD96-3F5B64045736}"/>
              </a:ext>
            </a:extLst>
          </p:cNvPr>
          <p:cNvPicPr>
            <a:picLocks noChangeAspect="1"/>
          </p:cNvPicPr>
          <p:nvPr/>
        </p:nvPicPr>
        <p:blipFill>
          <a:blip r:embed="rId3"/>
          <a:stretch>
            <a:fillRect/>
          </a:stretch>
        </p:blipFill>
        <p:spPr>
          <a:xfrm>
            <a:off x="472611" y="892301"/>
            <a:ext cx="10685124" cy="5724490"/>
          </a:xfrm>
          <a:prstGeom prst="rect">
            <a:avLst/>
          </a:prstGeom>
        </p:spPr>
      </p:pic>
    </p:spTree>
    <p:extLst>
      <p:ext uri="{BB962C8B-B14F-4D97-AF65-F5344CB8AC3E}">
        <p14:creationId xmlns:p14="http://schemas.microsoft.com/office/powerpoint/2010/main" val="2416110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F6BC571C-9B6A-0DE2-2526-A3316EEFC434}"/>
            </a:ext>
          </a:extLst>
        </p:cNvPr>
        <p:cNvGrpSpPr/>
        <p:nvPr/>
      </p:nvGrpSpPr>
      <p:grpSpPr>
        <a:xfrm>
          <a:off x="0" y="0"/>
          <a:ext cx="0" cy="0"/>
          <a:chOff x="0" y="0"/>
          <a:chExt cx="0" cy="0"/>
        </a:xfrm>
      </p:grpSpPr>
      <p:sp>
        <p:nvSpPr>
          <p:cNvPr id="144" name="Google Shape;144;p39">
            <a:extLst>
              <a:ext uri="{FF2B5EF4-FFF2-40B4-BE49-F238E27FC236}">
                <a16:creationId xmlns:a16="http://schemas.microsoft.com/office/drawing/2014/main" id="{26FB13A3-077E-2A9C-ED49-3EE1AC506FF5}"/>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dirty="0"/>
              <a:t>My Work</a:t>
            </a:r>
            <a:r>
              <a:rPr lang="en-US" sz="2400" b="1" i="0" u="none" strike="noStrike" cap="none" dirty="0">
                <a:solidFill>
                  <a:srgbClr val="000000"/>
                </a:solidFill>
                <a:latin typeface="Arial"/>
                <a:ea typeface="Arial"/>
                <a:cs typeface="Arial"/>
                <a:sym typeface="Arial"/>
              </a:rPr>
              <a:t> </a:t>
            </a:r>
            <a:endParaRPr sz="2400" b="1" i="0" u="none" strike="noStrike" cap="none" dirty="0">
              <a:solidFill>
                <a:srgbClr val="000000"/>
              </a:solidFill>
              <a:latin typeface="Arial"/>
              <a:ea typeface="Arial"/>
              <a:cs typeface="Arial"/>
              <a:sym typeface="Arial"/>
            </a:endParaRPr>
          </a:p>
        </p:txBody>
      </p:sp>
      <p:pic>
        <p:nvPicPr>
          <p:cNvPr id="4" name="Picture 3">
            <a:extLst>
              <a:ext uri="{FF2B5EF4-FFF2-40B4-BE49-F238E27FC236}">
                <a16:creationId xmlns:a16="http://schemas.microsoft.com/office/drawing/2014/main" id="{0BDCB262-9DCF-D135-9E5F-984DCFFEB265}"/>
              </a:ext>
            </a:extLst>
          </p:cNvPr>
          <p:cNvPicPr>
            <a:picLocks noChangeAspect="1"/>
          </p:cNvPicPr>
          <p:nvPr/>
        </p:nvPicPr>
        <p:blipFill>
          <a:blip r:embed="rId3"/>
          <a:stretch>
            <a:fillRect/>
          </a:stretch>
        </p:blipFill>
        <p:spPr>
          <a:xfrm>
            <a:off x="616449" y="943742"/>
            <a:ext cx="10654301" cy="5808891"/>
          </a:xfrm>
          <a:prstGeom prst="rect">
            <a:avLst/>
          </a:prstGeom>
        </p:spPr>
      </p:pic>
    </p:spTree>
    <p:extLst>
      <p:ext uri="{BB962C8B-B14F-4D97-AF65-F5344CB8AC3E}">
        <p14:creationId xmlns:p14="http://schemas.microsoft.com/office/powerpoint/2010/main" val="33180817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47A874E5-E49A-BB76-518E-0C71FFDF59A8}"/>
            </a:ext>
          </a:extLst>
        </p:cNvPr>
        <p:cNvGrpSpPr/>
        <p:nvPr/>
      </p:nvGrpSpPr>
      <p:grpSpPr>
        <a:xfrm>
          <a:off x="0" y="0"/>
          <a:ext cx="0" cy="0"/>
          <a:chOff x="0" y="0"/>
          <a:chExt cx="0" cy="0"/>
        </a:xfrm>
      </p:grpSpPr>
      <p:sp>
        <p:nvSpPr>
          <p:cNvPr id="144" name="Google Shape;144;p39">
            <a:extLst>
              <a:ext uri="{FF2B5EF4-FFF2-40B4-BE49-F238E27FC236}">
                <a16:creationId xmlns:a16="http://schemas.microsoft.com/office/drawing/2014/main" id="{01C3077A-54C4-00F8-5666-2F049B7A7731}"/>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dirty="0"/>
              <a:t>My Work</a:t>
            </a:r>
            <a:r>
              <a:rPr lang="en-US" sz="2400" b="1" i="0" u="none" strike="noStrike" cap="none" dirty="0">
                <a:solidFill>
                  <a:srgbClr val="000000"/>
                </a:solidFill>
                <a:latin typeface="Arial"/>
                <a:ea typeface="Arial"/>
                <a:cs typeface="Arial"/>
                <a:sym typeface="Arial"/>
              </a:rPr>
              <a:t> </a:t>
            </a:r>
            <a:endParaRPr sz="2400" b="1" i="0" u="none" strike="noStrike" cap="none" dirty="0">
              <a:solidFill>
                <a:srgbClr val="000000"/>
              </a:solidFill>
              <a:latin typeface="Arial"/>
              <a:ea typeface="Arial"/>
              <a:cs typeface="Arial"/>
              <a:sym typeface="Arial"/>
            </a:endParaRPr>
          </a:p>
        </p:txBody>
      </p:sp>
      <p:pic>
        <p:nvPicPr>
          <p:cNvPr id="4" name="Picture 3">
            <a:extLst>
              <a:ext uri="{FF2B5EF4-FFF2-40B4-BE49-F238E27FC236}">
                <a16:creationId xmlns:a16="http://schemas.microsoft.com/office/drawing/2014/main" id="{4BEF266A-3E19-FD3C-5EEA-2E0BE3FC5978}"/>
              </a:ext>
            </a:extLst>
          </p:cNvPr>
          <p:cNvPicPr>
            <a:picLocks noChangeAspect="1"/>
          </p:cNvPicPr>
          <p:nvPr/>
        </p:nvPicPr>
        <p:blipFill>
          <a:blip r:embed="rId3"/>
          <a:stretch>
            <a:fillRect/>
          </a:stretch>
        </p:blipFill>
        <p:spPr>
          <a:xfrm>
            <a:off x="678093" y="1045577"/>
            <a:ext cx="10602931" cy="5653419"/>
          </a:xfrm>
          <a:prstGeom prst="rect">
            <a:avLst/>
          </a:prstGeom>
        </p:spPr>
      </p:pic>
    </p:spTree>
    <p:extLst>
      <p:ext uri="{BB962C8B-B14F-4D97-AF65-F5344CB8AC3E}">
        <p14:creationId xmlns:p14="http://schemas.microsoft.com/office/powerpoint/2010/main" val="28822042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5C3B53B5-3636-6367-9B4D-4001733E8574}"/>
            </a:ext>
          </a:extLst>
        </p:cNvPr>
        <p:cNvGrpSpPr/>
        <p:nvPr/>
      </p:nvGrpSpPr>
      <p:grpSpPr>
        <a:xfrm>
          <a:off x="0" y="0"/>
          <a:ext cx="0" cy="0"/>
          <a:chOff x="0" y="0"/>
          <a:chExt cx="0" cy="0"/>
        </a:xfrm>
      </p:grpSpPr>
      <p:sp>
        <p:nvSpPr>
          <p:cNvPr id="144" name="Google Shape;144;p39">
            <a:extLst>
              <a:ext uri="{FF2B5EF4-FFF2-40B4-BE49-F238E27FC236}">
                <a16:creationId xmlns:a16="http://schemas.microsoft.com/office/drawing/2014/main" id="{518EF5DC-CF55-55CD-00E2-65230E121705}"/>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dirty="0"/>
              <a:t>My Work</a:t>
            </a:r>
            <a:r>
              <a:rPr lang="en-US" sz="2400" b="1" i="0" u="none" strike="noStrike" cap="none" dirty="0">
                <a:solidFill>
                  <a:srgbClr val="000000"/>
                </a:solidFill>
                <a:latin typeface="Arial"/>
                <a:ea typeface="Arial"/>
                <a:cs typeface="Arial"/>
                <a:sym typeface="Arial"/>
              </a:rPr>
              <a:t> </a:t>
            </a:r>
            <a:endParaRPr sz="2400" b="1" i="0" u="none" strike="noStrike" cap="none" dirty="0">
              <a:solidFill>
                <a:srgbClr val="000000"/>
              </a:solidFill>
              <a:latin typeface="Arial"/>
              <a:ea typeface="Arial"/>
              <a:cs typeface="Arial"/>
              <a:sym typeface="Arial"/>
            </a:endParaRPr>
          </a:p>
        </p:txBody>
      </p:sp>
      <p:pic>
        <p:nvPicPr>
          <p:cNvPr id="4" name="Picture 3">
            <a:extLst>
              <a:ext uri="{FF2B5EF4-FFF2-40B4-BE49-F238E27FC236}">
                <a16:creationId xmlns:a16="http://schemas.microsoft.com/office/drawing/2014/main" id="{530DB609-51A2-1EE3-6CBC-AE6463FF39E0}"/>
              </a:ext>
            </a:extLst>
          </p:cNvPr>
          <p:cNvPicPr>
            <a:picLocks noChangeAspect="1"/>
          </p:cNvPicPr>
          <p:nvPr/>
        </p:nvPicPr>
        <p:blipFill>
          <a:blip r:embed="rId3"/>
          <a:stretch>
            <a:fillRect/>
          </a:stretch>
        </p:blipFill>
        <p:spPr>
          <a:xfrm>
            <a:off x="472611" y="976702"/>
            <a:ext cx="10253609" cy="5539738"/>
          </a:xfrm>
          <a:prstGeom prst="rect">
            <a:avLst/>
          </a:prstGeom>
        </p:spPr>
      </p:pic>
    </p:spTree>
    <p:extLst>
      <p:ext uri="{BB962C8B-B14F-4D97-AF65-F5344CB8AC3E}">
        <p14:creationId xmlns:p14="http://schemas.microsoft.com/office/powerpoint/2010/main" val="31774702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616A8928-B7AB-1EF1-29B0-670FD813E99C}"/>
            </a:ext>
          </a:extLst>
        </p:cNvPr>
        <p:cNvGrpSpPr/>
        <p:nvPr/>
      </p:nvGrpSpPr>
      <p:grpSpPr>
        <a:xfrm>
          <a:off x="0" y="0"/>
          <a:ext cx="0" cy="0"/>
          <a:chOff x="0" y="0"/>
          <a:chExt cx="0" cy="0"/>
        </a:xfrm>
      </p:grpSpPr>
      <p:sp>
        <p:nvSpPr>
          <p:cNvPr id="144" name="Google Shape;144;p39">
            <a:extLst>
              <a:ext uri="{FF2B5EF4-FFF2-40B4-BE49-F238E27FC236}">
                <a16:creationId xmlns:a16="http://schemas.microsoft.com/office/drawing/2014/main" id="{D62C38BA-7451-255A-B54C-4B8DD9369E0C}"/>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dirty="0"/>
              <a:t>My Work</a:t>
            </a:r>
            <a:r>
              <a:rPr lang="en-US" sz="2400" b="1" i="0" u="none" strike="noStrike" cap="none" dirty="0">
                <a:solidFill>
                  <a:srgbClr val="000000"/>
                </a:solidFill>
                <a:latin typeface="Arial"/>
                <a:ea typeface="Arial"/>
                <a:cs typeface="Arial"/>
                <a:sym typeface="Arial"/>
              </a:rPr>
              <a:t> </a:t>
            </a:r>
            <a:endParaRPr sz="2400" b="1"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4179FA1B-D047-190C-A9D1-27F630B072A1}"/>
              </a:ext>
            </a:extLst>
          </p:cNvPr>
          <p:cNvPicPr>
            <a:picLocks noChangeAspect="1"/>
          </p:cNvPicPr>
          <p:nvPr/>
        </p:nvPicPr>
        <p:blipFill>
          <a:blip r:embed="rId3"/>
          <a:stretch>
            <a:fillRect/>
          </a:stretch>
        </p:blipFill>
        <p:spPr>
          <a:xfrm>
            <a:off x="369870" y="934700"/>
            <a:ext cx="10664575" cy="5774559"/>
          </a:xfrm>
          <a:prstGeom prst="rect">
            <a:avLst/>
          </a:prstGeom>
        </p:spPr>
      </p:pic>
    </p:spTree>
    <p:extLst>
      <p:ext uri="{BB962C8B-B14F-4D97-AF65-F5344CB8AC3E}">
        <p14:creationId xmlns:p14="http://schemas.microsoft.com/office/powerpoint/2010/main" val="21182004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E3C3BBEA-6D23-2DCB-71E6-7DC4E53C5762}"/>
            </a:ext>
          </a:extLst>
        </p:cNvPr>
        <p:cNvGrpSpPr/>
        <p:nvPr/>
      </p:nvGrpSpPr>
      <p:grpSpPr>
        <a:xfrm>
          <a:off x="0" y="0"/>
          <a:ext cx="0" cy="0"/>
          <a:chOff x="0" y="0"/>
          <a:chExt cx="0" cy="0"/>
        </a:xfrm>
      </p:grpSpPr>
      <p:sp>
        <p:nvSpPr>
          <p:cNvPr id="144" name="Google Shape;144;p39">
            <a:extLst>
              <a:ext uri="{FF2B5EF4-FFF2-40B4-BE49-F238E27FC236}">
                <a16:creationId xmlns:a16="http://schemas.microsoft.com/office/drawing/2014/main" id="{B1144360-3423-7706-7421-062474554A8B}"/>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dirty="0"/>
              <a:t>My Work</a:t>
            </a:r>
            <a:r>
              <a:rPr lang="en-US" sz="2400" b="1" i="0" u="none" strike="noStrike" cap="none" dirty="0">
                <a:solidFill>
                  <a:srgbClr val="000000"/>
                </a:solidFill>
                <a:latin typeface="Arial"/>
                <a:ea typeface="Arial"/>
                <a:cs typeface="Arial"/>
                <a:sym typeface="Arial"/>
              </a:rPr>
              <a:t> </a:t>
            </a:r>
            <a:endParaRPr sz="2400" b="1"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F576A092-0B1E-5216-B4FD-8D7329F8F484}"/>
              </a:ext>
            </a:extLst>
          </p:cNvPr>
          <p:cNvPicPr>
            <a:picLocks noChangeAspect="1"/>
          </p:cNvPicPr>
          <p:nvPr/>
        </p:nvPicPr>
        <p:blipFill>
          <a:blip r:embed="rId3"/>
          <a:stretch>
            <a:fillRect/>
          </a:stretch>
        </p:blipFill>
        <p:spPr>
          <a:xfrm>
            <a:off x="616450" y="924585"/>
            <a:ext cx="10664575" cy="5702238"/>
          </a:xfrm>
          <a:prstGeom prst="rect">
            <a:avLst/>
          </a:prstGeom>
        </p:spPr>
      </p:pic>
    </p:spTree>
    <p:extLst>
      <p:ext uri="{BB962C8B-B14F-4D97-AF65-F5344CB8AC3E}">
        <p14:creationId xmlns:p14="http://schemas.microsoft.com/office/powerpoint/2010/main" val="40028597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88C81851-F9B3-E987-2C1B-16F6943ACB7E}"/>
            </a:ext>
          </a:extLst>
        </p:cNvPr>
        <p:cNvGrpSpPr/>
        <p:nvPr/>
      </p:nvGrpSpPr>
      <p:grpSpPr>
        <a:xfrm>
          <a:off x="0" y="0"/>
          <a:ext cx="0" cy="0"/>
          <a:chOff x="0" y="0"/>
          <a:chExt cx="0" cy="0"/>
        </a:xfrm>
      </p:grpSpPr>
      <p:sp>
        <p:nvSpPr>
          <p:cNvPr id="144" name="Google Shape;144;p39">
            <a:extLst>
              <a:ext uri="{FF2B5EF4-FFF2-40B4-BE49-F238E27FC236}">
                <a16:creationId xmlns:a16="http://schemas.microsoft.com/office/drawing/2014/main" id="{05E00CE7-FAA2-2AA1-BF96-589F4E455191}"/>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dirty="0"/>
              <a:t>My Work</a:t>
            </a:r>
            <a:r>
              <a:rPr lang="en-US" sz="2400" b="1" i="0" u="none" strike="noStrike" cap="none" dirty="0">
                <a:solidFill>
                  <a:srgbClr val="000000"/>
                </a:solidFill>
                <a:latin typeface="Arial"/>
                <a:ea typeface="Arial"/>
                <a:cs typeface="Arial"/>
                <a:sym typeface="Arial"/>
              </a:rPr>
              <a:t> </a:t>
            </a:r>
            <a:endParaRPr sz="2400" b="1"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4D1C456D-A8D0-A7F8-5931-06C5357B3280}"/>
              </a:ext>
            </a:extLst>
          </p:cNvPr>
          <p:cNvPicPr>
            <a:picLocks noChangeAspect="1"/>
          </p:cNvPicPr>
          <p:nvPr/>
        </p:nvPicPr>
        <p:blipFill>
          <a:blip r:embed="rId3"/>
          <a:stretch>
            <a:fillRect/>
          </a:stretch>
        </p:blipFill>
        <p:spPr>
          <a:xfrm>
            <a:off x="647271" y="1045577"/>
            <a:ext cx="10654301" cy="5713418"/>
          </a:xfrm>
          <a:prstGeom prst="rect">
            <a:avLst/>
          </a:prstGeom>
        </p:spPr>
      </p:pic>
    </p:spTree>
    <p:extLst>
      <p:ext uri="{BB962C8B-B14F-4D97-AF65-F5344CB8AC3E}">
        <p14:creationId xmlns:p14="http://schemas.microsoft.com/office/powerpoint/2010/main" val="33074282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F8349789-413C-F859-AEB5-55084ED63365}"/>
            </a:ext>
          </a:extLst>
        </p:cNvPr>
        <p:cNvGrpSpPr/>
        <p:nvPr/>
      </p:nvGrpSpPr>
      <p:grpSpPr>
        <a:xfrm>
          <a:off x="0" y="0"/>
          <a:ext cx="0" cy="0"/>
          <a:chOff x="0" y="0"/>
          <a:chExt cx="0" cy="0"/>
        </a:xfrm>
      </p:grpSpPr>
      <p:sp>
        <p:nvSpPr>
          <p:cNvPr id="144" name="Google Shape;144;p39">
            <a:extLst>
              <a:ext uri="{FF2B5EF4-FFF2-40B4-BE49-F238E27FC236}">
                <a16:creationId xmlns:a16="http://schemas.microsoft.com/office/drawing/2014/main" id="{C9C452A4-261F-6393-868E-9E619B660220}"/>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dirty="0"/>
              <a:t>My Work</a:t>
            </a:r>
            <a:r>
              <a:rPr lang="en-US" sz="2400" b="1" i="0" u="none" strike="noStrike" cap="none" dirty="0">
                <a:solidFill>
                  <a:srgbClr val="000000"/>
                </a:solidFill>
                <a:latin typeface="Arial"/>
                <a:ea typeface="Arial"/>
                <a:cs typeface="Arial"/>
                <a:sym typeface="Arial"/>
              </a:rPr>
              <a:t> </a:t>
            </a:r>
            <a:endParaRPr sz="2400" b="1" i="0" u="none" strike="noStrike" cap="none" dirty="0">
              <a:solidFill>
                <a:srgbClr val="000000"/>
              </a:solidFill>
              <a:latin typeface="Arial"/>
              <a:ea typeface="Arial"/>
              <a:cs typeface="Arial"/>
              <a:sym typeface="Arial"/>
            </a:endParaRPr>
          </a:p>
        </p:txBody>
      </p:sp>
      <p:pic>
        <p:nvPicPr>
          <p:cNvPr id="4" name="Picture 3">
            <a:extLst>
              <a:ext uri="{FF2B5EF4-FFF2-40B4-BE49-F238E27FC236}">
                <a16:creationId xmlns:a16="http://schemas.microsoft.com/office/drawing/2014/main" id="{7C90AD4B-AEC9-FCEB-5894-D0995111526A}"/>
              </a:ext>
            </a:extLst>
          </p:cNvPr>
          <p:cNvPicPr>
            <a:picLocks noChangeAspect="1"/>
          </p:cNvPicPr>
          <p:nvPr/>
        </p:nvPicPr>
        <p:blipFill>
          <a:blip r:embed="rId3"/>
          <a:stretch>
            <a:fillRect/>
          </a:stretch>
        </p:blipFill>
        <p:spPr>
          <a:xfrm>
            <a:off x="666107" y="948114"/>
            <a:ext cx="10697111" cy="5786596"/>
          </a:xfrm>
          <a:prstGeom prst="rect">
            <a:avLst/>
          </a:prstGeom>
        </p:spPr>
      </p:pic>
    </p:spTree>
    <p:extLst>
      <p:ext uri="{BB962C8B-B14F-4D97-AF65-F5344CB8AC3E}">
        <p14:creationId xmlns:p14="http://schemas.microsoft.com/office/powerpoint/2010/main" val="10036497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Novelty and Uniqueness</a:t>
            </a:r>
            <a:endParaRPr sz="2400" b="1" i="0" u="none" strike="noStrike" cap="none">
              <a:solidFill>
                <a:srgbClr val="000000"/>
              </a:solidFill>
              <a:latin typeface="Arial"/>
              <a:ea typeface="Arial"/>
              <a:cs typeface="Arial"/>
              <a:sym typeface="Arial"/>
            </a:endParaRPr>
          </a:p>
        </p:txBody>
      </p:sp>
      <p:sp>
        <p:nvSpPr>
          <p:cNvPr id="3" name="Rectangle 2">
            <a:extLst>
              <a:ext uri="{FF2B5EF4-FFF2-40B4-BE49-F238E27FC236}">
                <a16:creationId xmlns:a16="http://schemas.microsoft.com/office/drawing/2014/main" id="{1FD8CED0-DA3A-28B4-ADDF-FA812F331BFC}"/>
              </a:ext>
            </a:extLst>
          </p:cNvPr>
          <p:cNvSpPr>
            <a:spLocks noChangeArrowheads="1"/>
          </p:cNvSpPr>
          <p:nvPr/>
        </p:nvSpPr>
        <p:spPr bwMode="auto">
          <a:xfrm>
            <a:off x="828696" y="1546987"/>
            <a:ext cx="1053460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ClrTx/>
            </a:pPr>
            <a:r>
              <a:rPr lang="en-GB" sz="1800" dirty="0"/>
              <a:t>The proposed Course Content Simplification Agent introduces a personalized AI-driven learning experience by combining IBM watsonx.ai Studio with intelligent educational content generation.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Personalized Learning</a:t>
            </a:r>
            <a:r>
              <a:rPr kumimoji="0" lang="en-US" altLang="en-US" sz="1800" b="0" i="0" u="none" strike="noStrike" cap="none" normalizeH="0" baseline="0" dirty="0">
                <a:ln>
                  <a:noFill/>
                </a:ln>
                <a:solidFill>
                  <a:schemeClr val="tx1"/>
                </a:solidFill>
                <a:effectLst/>
                <a:latin typeface="Arial" panose="020B0604020202020204" pitchFamily="34" charset="0"/>
              </a:rPr>
              <a:t> – Adapts educational content according to the learner's proficiency level.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Comprehensive Learning Support</a:t>
            </a:r>
            <a:r>
              <a:rPr kumimoji="0" lang="en-US" altLang="en-US" sz="1800" b="0" i="0" u="none" strike="noStrike" cap="none" normalizeH="0" baseline="0" dirty="0">
                <a:ln>
                  <a:noFill/>
                </a:ln>
                <a:solidFill>
                  <a:schemeClr val="tx1"/>
                </a:solidFill>
                <a:effectLst/>
                <a:latin typeface="Arial" panose="020B0604020202020204" pitchFamily="34" charset="0"/>
              </a:rPr>
              <a:t> – Generates summaries, flashcards, quizzes, key points, and difficult term explanations from a single document.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Multi-Format Support</a:t>
            </a:r>
            <a:r>
              <a:rPr kumimoji="0" lang="en-US" altLang="en-US" sz="1800" b="0" i="0" u="none" strike="noStrike" cap="none" normalizeH="0" baseline="0" dirty="0">
                <a:ln>
                  <a:noFill/>
                </a:ln>
                <a:solidFill>
                  <a:schemeClr val="tx1"/>
                </a:solidFill>
                <a:effectLst/>
                <a:latin typeface="Arial" panose="020B0604020202020204" pitchFamily="34" charset="0"/>
              </a:rPr>
              <a:t> – Accepts PDF, DOCX, TXT files, and direct text input.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AI-Based Content Simplification</a:t>
            </a:r>
            <a:r>
              <a:rPr kumimoji="0" lang="en-US" altLang="en-US" sz="1800" b="0" i="0" u="none" strike="noStrike" cap="none" normalizeH="0" baseline="0" dirty="0">
                <a:ln>
                  <a:noFill/>
                </a:ln>
                <a:solidFill>
                  <a:schemeClr val="tx1"/>
                </a:solidFill>
                <a:effectLst/>
                <a:latin typeface="Arial" panose="020B0604020202020204" pitchFamily="34" charset="0"/>
              </a:rPr>
              <a:t> – Converts complex academic language into simple explanations without changing the original meaning.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Interactive Learning Experience</a:t>
            </a:r>
            <a:r>
              <a:rPr kumimoji="0" lang="en-US" altLang="en-US" sz="1800" b="0" i="0" u="none" strike="noStrike" cap="none" normalizeH="0" baseline="0" dirty="0">
                <a:ln>
                  <a:noFill/>
                </a:ln>
                <a:solidFill>
                  <a:schemeClr val="tx1"/>
                </a:solidFill>
                <a:effectLst/>
                <a:latin typeface="Arial" panose="020B0604020202020204" pitchFamily="34" charset="0"/>
              </a:rPr>
              <a:t> – Helps students revise and self-assess using AI-generated study materials.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Scalable AI Solution</a:t>
            </a:r>
            <a:r>
              <a:rPr kumimoji="0" lang="en-US" altLang="en-US" sz="1800" b="0" i="0" u="none" strike="noStrike" cap="none" normalizeH="0" baseline="0" dirty="0">
                <a:ln>
                  <a:noFill/>
                </a:ln>
                <a:solidFill>
                  <a:schemeClr val="tx1"/>
                </a:solidFill>
                <a:effectLst/>
                <a:latin typeface="Arial" panose="020B0604020202020204" pitchFamily="34" charset="0"/>
              </a:rPr>
              <a:t> – Built on IBM watsonx.ai Studio using Foundation Models for reliable and efficient educational assistance.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lvl="0" eaLnBrk="0" fontAlgn="base" hangingPunct="0">
              <a:spcBef>
                <a:spcPct val="0"/>
              </a:spcBef>
              <a:spcAft>
                <a:spcPct val="0"/>
              </a:spcAft>
              <a:buClrTx/>
            </a:pPr>
            <a:r>
              <a:rPr lang="en-GB" sz="1800" dirty="0"/>
              <a:t>This makes the solution a smart, adaptive, and personalized AI learning assistant rather than a traditional content summarization tool.</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4" name="Google Shape;164;p41"/>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endParaRPr dirty="0"/>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Please test and Paste the working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IN" sz="1800" dirty="0">
                <a:hlinkClick r:id="rId3"/>
              </a:rPr>
              <a:t>https://github.com/aarna2005/course-simplifier.git</a:t>
            </a:r>
            <a:endParaRPr lang="en-IN" sz="1800" dirty="0"/>
          </a:p>
          <a:p>
            <a:pPr lvl="0">
              <a:lnSpc>
                <a:spcPct val="162162"/>
              </a:lnSpc>
              <a:buClr>
                <a:srgbClr val="2B3541"/>
              </a:buClr>
              <a:buSzPts val="1850"/>
            </a:pPr>
            <a:endParaRPr sz="1800" dirty="0"/>
          </a:p>
          <a:p>
            <a:pPr marL="0" marR="0" lvl="0" indent="0" algn="l" rtl="0">
              <a:lnSpc>
                <a:spcPct val="162162"/>
              </a:lnSpc>
              <a:spcBef>
                <a:spcPts val="0"/>
              </a:spcBef>
              <a:spcAft>
                <a:spcPts val="0"/>
              </a:spcAft>
              <a:buNone/>
            </a:pPr>
            <a:r>
              <a:rPr lang="en-US" sz="1850" b="1" i="0" u="none" strike="noStrike" cap="none" dirty="0">
                <a:solidFill>
                  <a:srgbClr val="2B3541"/>
                </a:solidFill>
                <a:latin typeface="Times New Roman"/>
                <a:ea typeface="Times New Roman"/>
                <a:cs typeface="Times New Roman"/>
                <a:sym typeface="Times New Roman"/>
              </a:rPr>
              <a:t>Make sure you have Uploaded following three files into your </a:t>
            </a:r>
            <a:r>
              <a:rPr lang="en-US" sz="1850" b="1" i="0" u="none" strike="noStrike" cap="none" dirty="0" err="1">
                <a:solidFill>
                  <a:srgbClr val="2B3541"/>
                </a:solidFill>
                <a:latin typeface="Times New Roman"/>
                <a:ea typeface="Times New Roman"/>
                <a:cs typeface="Times New Roman"/>
                <a:sym typeface="Times New Roman"/>
              </a:rPr>
              <a:t>github</a:t>
            </a:r>
            <a:r>
              <a:rPr lang="en-US" sz="1850" b="1" i="0" u="none" strike="noStrike" cap="none" dirty="0">
                <a:solidFill>
                  <a:srgbClr val="2B3541"/>
                </a:solidFill>
                <a:latin typeface="Times New Roman"/>
                <a:ea typeface="Times New Roman"/>
                <a:cs typeface="Times New Roman"/>
                <a:sym typeface="Times New Roman"/>
              </a:rPr>
              <a:t> repository  </a:t>
            </a:r>
            <a:br>
              <a:rPr lang="en-US" sz="1850" b="0" i="0" u="none" strike="noStrike" cap="none" dirty="0">
                <a:solidFill>
                  <a:srgbClr val="2B3541"/>
                </a:solidFill>
                <a:latin typeface="Times New Roman"/>
                <a:ea typeface="Times New Roman"/>
                <a:cs typeface="Times New Roman"/>
                <a:sym typeface="Times New Roman"/>
              </a:rPr>
            </a:br>
            <a:r>
              <a:rPr lang="en-US" sz="1850" b="0" i="0" u="none" strike="noStrike" cap="none" dirty="0">
                <a:solidFill>
                  <a:srgbClr val="2B3541"/>
                </a:solidFill>
                <a:latin typeface="Times New Roman"/>
                <a:ea typeface="Times New Roman"/>
                <a:cs typeface="Times New Roman"/>
                <a:sym typeface="Times New Roman"/>
              </a:rPr>
              <a:t>1) </a:t>
            </a:r>
            <a:r>
              <a:rPr lang="en-US" sz="1850" b="0" i="0" u="none" strike="noStrike" cap="none" dirty="0" err="1">
                <a:solidFill>
                  <a:srgbClr val="2B3541"/>
                </a:solidFill>
                <a:latin typeface="Times New Roman"/>
                <a:ea typeface="Times New Roman"/>
                <a:cs typeface="Times New Roman"/>
                <a:sym typeface="Times New Roman"/>
              </a:rPr>
              <a:t>app.json</a:t>
            </a:r>
            <a:r>
              <a:rPr lang="en-US" sz="1850" b="0" i="0" u="none" strike="noStrike" cap="none" dirty="0">
                <a:solidFill>
                  <a:srgbClr val="2B3541"/>
                </a:solidFill>
                <a:latin typeface="Times New Roman"/>
                <a:ea typeface="Times New Roman"/>
                <a:cs typeface="Times New Roman"/>
                <a:sym typeface="Times New Roman"/>
              </a:rPr>
              <a:t> file , 2) yourproblemstatement.pdf file  3) your projectpresntation.pptx file 4)any other files </a:t>
            </a:r>
            <a:endParaRPr dirty="0"/>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2" name="Rectangle 1">
            <a:extLst>
              <a:ext uri="{FF2B5EF4-FFF2-40B4-BE49-F238E27FC236}">
                <a16:creationId xmlns:a16="http://schemas.microsoft.com/office/drawing/2014/main" id="{CF6DB9C9-6924-A5D6-E4E4-C2AE7CB7823C}"/>
              </a:ext>
            </a:extLst>
          </p:cNvPr>
          <p:cNvSpPr>
            <a:spLocks noChangeArrowheads="1"/>
          </p:cNvSpPr>
          <p:nvPr/>
        </p:nvSpPr>
        <p:spPr bwMode="auto">
          <a:xfrm>
            <a:off x="1109608" y="1333800"/>
            <a:ext cx="949332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Multilingual Support</a:t>
            </a:r>
            <a:r>
              <a:rPr kumimoji="0" lang="en-US" altLang="en-US" sz="1800" b="0" i="0" u="none" strike="noStrike" cap="none" normalizeH="0" baseline="0" dirty="0">
                <a:ln>
                  <a:noFill/>
                </a:ln>
                <a:solidFill>
                  <a:schemeClr val="tx1"/>
                </a:solidFill>
                <a:effectLst/>
                <a:latin typeface="Arial" panose="020B0604020202020204" pitchFamily="34" charset="0"/>
              </a:rPr>
              <a:t> – Extend the application to simplify educational content in multiple regional and international languages.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Voice-Based Learning</a:t>
            </a:r>
            <a:r>
              <a:rPr kumimoji="0" lang="en-US" altLang="en-US" sz="1800" b="0" i="0" u="none" strike="noStrike" cap="none" normalizeH="0" baseline="0" dirty="0">
                <a:ln>
                  <a:noFill/>
                </a:ln>
                <a:solidFill>
                  <a:schemeClr val="tx1"/>
                </a:solidFill>
                <a:effectLst/>
                <a:latin typeface="Arial" panose="020B0604020202020204" pitchFamily="34" charset="0"/>
              </a:rPr>
              <a:t> – Integrate speech-to-text and text-to-speech features for interactive and accessible learning.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Personalized Learning Analytics</a:t>
            </a:r>
            <a:r>
              <a:rPr kumimoji="0" lang="en-US" altLang="en-US" sz="1800" b="0" i="0" u="none" strike="noStrike" cap="none" normalizeH="0" baseline="0" dirty="0">
                <a:ln>
                  <a:noFill/>
                </a:ln>
                <a:solidFill>
                  <a:schemeClr val="tx1"/>
                </a:solidFill>
                <a:effectLst/>
                <a:latin typeface="Arial" panose="020B0604020202020204" pitchFamily="34" charset="0"/>
              </a:rPr>
              <a:t> – Track learner progress and recommend customized learning paths based on performance.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 Tutor Assistant</a:t>
            </a:r>
            <a:r>
              <a:rPr kumimoji="0" lang="en-US" altLang="en-US" sz="1800" b="0" i="0" u="none" strike="noStrike" cap="none" normalizeH="0" baseline="0" dirty="0">
                <a:ln>
                  <a:noFill/>
                </a:ln>
                <a:solidFill>
                  <a:schemeClr val="tx1"/>
                </a:solidFill>
                <a:effectLst/>
                <a:latin typeface="Arial" panose="020B0604020202020204" pitchFamily="34" charset="0"/>
              </a:rPr>
              <a:t> – Provide real-time doubt clarification and personalized guidance through an intelligent conversational assistant.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Mobile Application</a:t>
            </a:r>
            <a:r>
              <a:rPr kumimoji="0" lang="en-US" altLang="en-US" sz="1800" b="0" i="0" u="none" strike="noStrike" cap="none" normalizeH="0" baseline="0" dirty="0">
                <a:ln>
                  <a:noFill/>
                </a:ln>
                <a:solidFill>
                  <a:schemeClr val="tx1"/>
                </a:solidFill>
                <a:effectLst/>
                <a:latin typeface="Arial" panose="020B0604020202020204" pitchFamily="34" charset="0"/>
              </a:rPr>
              <a:t> – Develop Android and iOS applications for convenient access to learning resources anytime and anywhere.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Learning Support</a:t>
            </a:r>
            <a:r>
              <a:rPr kumimoji="0" lang="en-US" altLang="en-US" sz="1800" b="0" i="0" u="none" strike="noStrike" cap="none" normalizeH="0" baseline="0" dirty="0">
                <a:ln>
                  <a:noFill/>
                </a:ln>
                <a:solidFill>
                  <a:schemeClr val="tx1"/>
                </a:solidFill>
                <a:effectLst/>
                <a:latin typeface="Arial" panose="020B0604020202020204" pitchFamily="34" charset="0"/>
              </a:rPr>
              <a:t> – Generate AI-based diagrams, flowcharts, and mind maps to enhance concept understanding. </a:t>
            </a:r>
          </a:p>
          <a:p>
            <a:pPr eaLnBrk="0" fontAlgn="base" hangingPunct="0">
              <a:spcBef>
                <a:spcPct val="0"/>
              </a:spcBef>
              <a:spcAft>
                <a:spcPct val="0"/>
              </a:spcAft>
              <a:buClr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LMS </a:t>
            </a:r>
            <a:r>
              <a:rPr kumimoji="0" lang="en-US" altLang="en-US" sz="1800" b="1" i="0" u="none" strike="noStrike" cap="none" normalizeH="0" baseline="0" dirty="0" err="1">
                <a:ln>
                  <a:noFill/>
                </a:ln>
                <a:solidFill>
                  <a:schemeClr val="tx1"/>
                </a:solidFill>
                <a:effectLst/>
                <a:latin typeface="Arial" panose="020B0604020202020204" pitchFamily="34" charset="0"/>
              </a:rPr>
              <a:t>I</a:t>
            </a:r>
            <a:r>
              <a:rPr lang="en-US" altLang="en-US" sz="1800" b="1" dirty="0" err="1">
                <a:solidFill>
                  <a:schemeClr val="tx1"/>
                </a:solidFill>
                <a:latin typeface="Arial" panose="020B0604020202020204" pitchFamily="34" charset="0"/>
              </a:rPr>
              <a:t>Offline</a:t>
            </a:r>
            <a:r>
              <a:rPr lang="en-US" altLang="en-US" sz="1800" b="1" dirty="0">
                <a:solidFill>
                  <a:schemeClr val="tx1"/>
                </a:solidFill>
                <a:latin typeface="Arial" panose="020B0604020202020204" pitchFamily="34" charset="0"/>
              </a:rPr>
              <a:t> Learning</a:t>
            </a:r>
            <a:r>
              <a:rPr lang="en-US" altLang="en-US" sz="1800" dirty="0">
                <a:solidFill>
                  <a:schemeClr val="tx1"/>
                </a:solidFill>
                <a:latin typeface="Arial" panose="020B0604020202020204" pitchFamily="34" charset="0"/>
              </a:rPr>
              <a:t> – Enable access to previously processed educational content without requiring an internet connection.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ntegration</a:t>
            </a:r>
            <a:r>
              <a:rPr kumimoji="0" lang="en-US" altLang="en-US" sz="1800" b="0" i="0" u="none" strike="noStrike" cap="none" normalizeH="0" baseline="0" dirty="0">
                <a:ln>
                  <a:noFill/>
                </a:ln>
                <a:solidFill>
                  <a:schemeClr val="tx1"/>
                </a:solidFill>
                <a:effectLst/>
                <a:latin typeface="Arial" panose="020B0604020202020204" pitchFamily="34" charset="0"/>
              </a:rPr>
              <a:t> – Integrate with Learning Management Systems such as Google Classroom, Moodle, and Microsoft Teams.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3" name="Google Shape;183;p43"/>
          <p:cNvSpPr txBox="1"/>
          <p:nvPr/>
        </p:nvSpPr>
        <p:spPr>
          <a:xfrm>
            <a:off x="552048" y="690061"/>
            <a:ext cx="638996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a:solidFill>
                  <a:srgbClr val="000000"/>
                </a:solidFill>
                <a:latin typeface="Arial"/>
                <a:ea typeface="Arial"/>
                <a:cs typeface="Arial"/>
                <a:sym typeface="Arial"/>
              </a:rPr>
              <a:t>Please  add your credly certificate </a:t>
            </a:r>
            <a:endParaRPr/>
          </a:p>
        </p:txBody>
      </p:sp>
      <p:pic>
        <p:nvPicPr>
          <p:cNvPr id="3" name="Picture 2">
            <a:extLst>
              <a:ext uri="{FF2B5EF4-FFF2-40B4-BE49-F238E27FC236}">
                <a16:creationId xmlns:a16="http://schemas.microsoft.com/office/drawing/2014/main" id="{62344FB5-7158-F7E1-BD18-B0FD39E23861}"/>
              </a:ext>
            </a:extLst>
          </p:cNvPr>
          <p:cNvPicPr>
            <a:picLocks noChangeAspect="1"/>
          </p:cNvPicPr>
          <p:nvPr/>
        </p:nvPicPr>
        <p:blipFill>
          <a:blip r:embed="rId3"/>
          <a:stretch>
            <a:fillRect/>
          </a:stretch>
        </p:blipFill>
        <p:spPr>
          <a:xfrm>
            <a:off x="2466389" y="1612943"/>
            <a:ext cx="6389966" cy="495548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0" name="Google Shape;190;p44"/>
          <p:cNvSpPr txBox="1"/>
          <p:nvPr/>
        </p:nvSpPr>
        <p:spPr>
          <a:xfrm>
            <a:off x="496843" y="800470"/>
            <a:ext cx="543768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0000"/>
                </a:solidFill>
                <a:latin typeface="Arial"/>
                <a:ea typeface="Arial"/>
                <a:cs typeface="Arial"/>
                <a:sym typeface="Arial"/>
              </a:rPr>
              <a:t>Add your IBM BOB Certificate</a:t>
            </a:r>
            <a:endParaRPr/>
          </a:p>
        </p:txBody>
      </p:sp>
      <p:pic>
        <p:nvPicPr>
          <p:cNvPr id="3" name="Picture 2">
            <a:extLst>
              <a:ext uri="{FF2B5EF4-FFF2-40B4-BE49-F238E27FC236}">
                <a16:creationId xmlns:a16="http://schemas.microsoft.com/office/drawing/2014/main" id="{B74D368F-458D-583F-CA79-E35D785A637D}"/>
              </a:ext>
            </a:extLst>
          </p:cNvPr>
          <p:cNvPicPr>
            <a:picLocks noChangeAspect="1"/>
          </p:cNvPicPr>
          <p:nvPr/>
        </p:nvPicPr>
        <p:blipFill>
          <a:blip r:embed="rId3"/>
          <a:stretch>
            <a:fillRect/>
          </a:stretch>
        </p:blipFill>
        <p:spPr>
          <a:xfrm>
            <a:off x="1416994" y="1282369"/>
            <a:ext cx="8446197" cy="521475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b="20452"/>
          <a:stretch>
            <a:fillRect/>
          </a:stretch>
        </p:blipFill>
        <p:spPr>
          <a:xfrm>
            <a:off x="0" y="2190302"/>
            <a:ext cx="12192000" cy="1970732"/>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192</TotalTime>
  <Words>1054</Words>
  <Application>Microsoft Office PowerPoint</Application>
  <PresentationFormat>Widescreen</PresentationFormat>
  <Paragraphs>146</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Times New Roman</vt:lpstr>
      <vt:lpstr>Wingdings</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Aarna Neemkar</cp:lastModifiedBy>
  <cp:revision>2</cp:revision>
  <dcterms:created xsi:type="dcterms:W3CDTF">2025-07-08T05:06:56Z</dcterms:created>
  <dcterms:modified xsi:type="dcterms:W3CDTF">2026-07-12T07:19:13Z</dcterms:modified>
</cp:coreProperties>
</file>